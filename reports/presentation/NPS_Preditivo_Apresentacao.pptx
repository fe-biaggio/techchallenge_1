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8" r:id="rId2"/>
    <p:sldId id="256" r:id="rId3"/>
    <p:sldId id="271" r:id="rId4"/>
    <p:sldId id="258" r:id="rId5"/>
    <p:sldId id="259" r:id="rId6"/>
    <p:sldId id="260" r:id="rId7"/>
    <p:sldId id="272" r:id="rId8"/>
    <p:sldId id="261" r:id="rId9"/>
    <p:sldId id="276" r:id="rId10"/>
    <p:sldId id="274" r:id="rId11"/>
    <p:sldId id="264" r:id="rId12"/>
    <p:sldId id="273" r:id="rId13"/>
    <p:sldId id="265" r:id="rId14"/>
    <p:sldId id="266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C12"/>
    <a:srgbClr val="1E8B4C"/>
    <a:srgbClr val="E67E22"/>
    <a:srgbClr val="902B20"/>
    <a:srgbClr val="C0392B"/>
    <a:srgbClr val="F4F6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9" d="100"/>
          <a:sy n="99" d="100"/>
        </p:scale>
        <p:origin x="114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0918791893282337"/>
          <c:y val="4.1397822013974114E-2"/>
          <c:w val="0.50089413214096956"/>
          <c:h val="0.91511407999759053"/>
        </c:manualLayout>
      </c:layout>
      <c:pieChart>
        <c:varyColors val="1"/>
        <c:ser>
          <c:idx val="0"/>
          <c:order val="0"/>
          <c:tx>
            <c:strRef>
              <c:f>Planilha1!$B$1</c:f>
              <c:strCache>
                <c:ptCount val="1"/>
                <c:pt idx="0">
                  <c:v>Vendas</c:v>
                </c:pt>
              </c:strCache>
            </c:strRef>
          </c:tx>
          <c:spPr>
            <a:solidFill>
              <a:srgbClr val="C0392B"/>
            </a:solidFill>
          </c:spPr>
          <c:dPt>
            <c:idx val="0"/>
            <c:bubble3D val="0"/>
            <c:spPr>
              <a:solidFill>
                <a:srgbClr val="C0392B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C0F-40D2-A375-41631F770618}"/>
              </c:ext>
            </c:extLst>
          </c:dPt>
          <c:dPt>
            <c:idx val="1"/>
            <c:bubble3D val="0"/>
            <c:spPr>
              <a:solidFill>
                <a:srgbClr val="F39C1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2C0F-40D2-A375-41631F770618}"/>
              </c:ext>
            </c:extLst>
          </c:dPt>
          <c:dPt>
            <c:idx val="2"/>
            <c:bubble3D val="0"/>
            <c:spPr>
              <a:solidFill>
                <a:srgbClr val="1E8B4C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C0F-40D2-A375-41631F770618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00" b="1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2C0F-40D2-A375-41631F770618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00" b="1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2-2C0F-40D2-A375-41631F770618}"/>
                </c:ext>
              </c:extLst>
            </c:dLbl>
            <c:dLbl>
              <c:idx val="2"/>
              <c:layout>
                <c:manualLayout>
                  <c:x val="2.8578554057148511E-2"/>
                  <c:y val="1.1661616972262248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1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9.9588729371381357E-2"/>
                      <c:h val="0.15593914215309077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2C0F-40D2-A375-41631F77061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Planilha1!$A$2:$A$4</c:f>
              <c:strCache>
                <c:ptCount val="3"/>
                <c:pt idx="0">
                  <c:v>Detrator</c:v>
                </c:pt>
                <c:pt idx="1">
                  <c:v>Neutro</c:v>
                </c:pt>
                <c:pt idx="2">
                  <c:v>Promotor</c:v>
                </c:pt>
              </c:strCache>
            </c:strRef>
          </c:cat>
          <c:val>
            <c:numRef>
              <c:f>Planilha1!$B$2:$B$4</c:f>
              <c:numCache>
                <c:formatCode>0.0%</c:formatCode>
                <c:ptCount val="3"/>
                <c:pt idx="0">
                  <c:v>0.84399999999999997</c:v>
                </c:pt>
                <c:pt idx="1">
                  <c:v>0.112</c:v>
                </c:pt>
                <c:pt idx="2">
                  <c:v>4.3999999999999997E-2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C0F-40D2-A375-41631F770618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Planilha1!$B$1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rgbClr val="F39C12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FC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8D7-4981-8FDF-1FE958EA1729}"/>
              </c:ext>
            </c:extLst>
          </c:dPt>
          <c:dPt>
            <c:idx val="2"/>
            <c:invertIfNegative val="0"/>
            <c:bubble3D val="0"/>
            <c:spPr>
              <a:solidFill>
                <a:srgbClr val="E67E2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48D7-4981-8FDF-1FE958EA1729}"/>
              </c:ext>
            </c:extLst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8D7-4981-8FDF-1FE958EA1729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rgbClr val="FFC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48D7-4981-8FDF-1FE958EA1729}"/>
                </c:ext>
              </c:extLst>
            </c:dLbl>
            <c:dLbl>
              <c:idx val="2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rgbClr val="E67E2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4-48D7-4981-8FDF-1FE958EA1729}"/>
                </c:ext>
              </c:extLst>
            </c:dLbl>
            <c:dLbl>
              <c:idx val="3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rgbClr val="C0392B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48D7-4981-8FDF-1FE958EA172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rgbClr val="F39C12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Planilha1!$A$2:$A$5</c:f>
              <c:strCache>
                <c:ptCount val="4"/>
                <c:pt idx="0">
                  <c:v>Sem atraso</c:v>
                </c:pt>
                <c:pt idx="1">
                  <c:v>1-2 dias</c:v>
                </c:pt>
                <c:pt idx="2">
                  <c:v>3-4 dias</c:v>
                </c:pt>
                <c:pt idx="3">
                  <c:v>5+ dias</c:v>
                </c:pt>
              </c:strCache>
            </c:strRef>
          </c:cat>
          <c:val>
            <c:numRef>
              <c:f>Planilha1!$B$2:$B$5</c:f>
              <c:numCache>
                <c:formatCode>General</c:formatCode>
                <c:ptCount val="4"/>
                <c:pt idx="0">
                  <c:v>6.86</c:v>
                </c:pt>
                <c:pt idx="1">
                  <c:v>5.05</c:v>
                </c:pt>
                <c:pt idx="2" formatCode="0.00">
                  <c:v>3.1</c:v>
                </c:pt>
                <c:pt idx="3">
                  <c:v>1.28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D7-4981-8FDF-1FE958EA172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30"/>
        <c:overlap val="-27"/>
        <c:axId val="2126190688"/>
        <c:axId val="2126193568"/>
      </c:barChart>
      <c:catAx>
        <c:axId val="21261906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126193568"/>
        <c:crosses val="autoZero"/>
        <c:auto val="1"/>
        <c:lblAlgn val="ctr"/>
        <c:lblOffset val="100"/>
        <c:noMultiLvlLbl val="0"/>
      </c:catAx>
      <c:valAx>
        <c:axId val="2126193568"/>
        <c:scaling>
          <c:orientation val="minMax"/>
          <c:max val="10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1" i="0" u="none" strike="noStrike" kern="1200" baseline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1261906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Planilha1!$B$1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rgbClr val="F39C12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39C1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D431-46BB-9C93-462BFB3B250B}"/>
              </c:ext>
            </c:extLst>
          </c:dPt>
          <c:dPt>
            <c:idx val="2"/>
            <c:invertIfNegative val="0"/>
            <c:bubble3D val="0"/>
            <c:spPr>
              <a:solidFill>
                <a:srgbClr val="E67E2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D431-46BB-9C93-462BFB3B250B}"/>
              </c:ext>
            </c:extLst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D431-46BB-9C93-462BFB3B250B}"/>
              </c:ext>
            </c:extLst>
          </c:dPt>
          <c:dLbls>
            <c:dLbl>
              <c:idx val="2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rgbClr val="E67E2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D431-46BB-9C93-462BFB3B250B}"/>
                </c:ext>
              </c:extLst>
            </c:dLbl>
            <c:dLbl>
              <c:idx val="3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rgbClr val="C0392B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D431-46BB-9C93-462BFB3B250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rgbClr val="F39C12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Planilha1!$A$2:$A$5</c:f>
              <c:strCache>
                <c:ptCount val="4"/>
                <c:pt idx="0">
                  <c:v>0</c:v>
                </c:pt>
                <c:pt idx="1">
                  <c:v>1-2</c:v>
                </c:pt>
                <c:pt idx="2">
                  <c:v>3-4</c:v>
                </c:pt>
                <c:pt idx="3">
                  <c:v>5+</c:v>
                </c:pt>
              </c:strCache>
            </c:strRef>
          </c:cat>
          <c:val>
            <c:numRef>
              <c:f>Planilha1!$B$2:$B$5</c:f>
              <c:numCache>
                <c:formatCode>0.0</c:formatCode>
                <c:ptCount val="4"/>
                <c:pt idx="0">
                  <c:v>5.5</c:v>
                </c:pt>
                <c:pt idx="1">
                  <c:v>4.4362637362637365</c:v>
                </c:pt>
                <c:pt idx="2">
                  <c:v>3.0520179372197309</c:v>
                </c:pt>
                <c:pt idx="3">
                  <c:v>1.8931818181818185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431-46BB-9C93-462BFB3B250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30"/>
        <c:overlap val="-27"/>
        <c:axId val="2126190688"/>
        <c:axId val="2126193568"/>
      </c:barChart>
      <c:catAx>
        <c:axId val="21261906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126193568"/>
        <c:crosses val="autoZero"/>
        <c:auto val="1"/>
        <c:lblAlgn val="ctr"/>
        <c:lblOffset val="100"/>
        <c:noMultiLvlLbl val="0"/>
      </c:catAx>
      <c:valAx>
        <c:axId val="2126193568"/>
        <c:scaling>
          <c:orientation val="minMax"/>
          <c:max val="10"/>
        </c:scaling>
        <c:delete val="0"/>
        <c:axPos val="l"/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1" i="0" u="none" strike="noStrike" kern="1200" baseline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1261906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Planilha1!$B$1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rgbClr val="F39C12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B05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798-4C9E-BA24-7E72E4236C0F}"/>
              </c:ext>
            </c:extLst>
          </c:dPt>
          <c:dPt>
            <c:idx val="1"/>
            <c:invertIfNegative val="0"/>
            <c:bubble3D val="0"/>
            <c:spPr>
              <a:solidFill>
                <a:srgbClr val="FFC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EE3C-4C50-8380-EA9ED13B7ED7}"/>
              </c:ext>
            </c:extLst>
          </c:dPt>
          <c:dPt>
            <c:idx val="2"/>
            <c:invertIfNegative val="0"/>
            <c:bubble3D val="0"/>
            <c:spPr>
              <a:solidFill>
                <a:srgbClr val="E67E2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798-4C9E-BA24-7E72E4236C0F}"/>
              </c:ext>
            </c:extLst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798-4C9E-BA24-7E72E4236C0F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rgbClr val="1E8B4C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8798-4C9E-BA24-7E72E4236C0F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rgbClr val="FFC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6-EE3C-4C50-8380-EA9ED13B7ED7}"/>
                </c:ext>
              </c:extLst>
            </c:dLbl>
            <c:dLbl>
              <c:idx val="2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rgbClr val="E67E2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8798-4C9E-BA24-7E72E4236C0F}"/>
                </c:ext>
              </c:extLst>
            </c:dLbl>
            <c:dLbl>
              <c:idx val="3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kern="1200" baseline="0">
                      <a:solidFill>
                        <a:srgbClr val="C0392B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8798-4C9E-BA24-7E72E4236C0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rgbClr val="F39C12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Planilha1!$A$2:$A$5</c:f>
              <c:strCache>
                <c:ptCount val="4"/>
                <c:pt idx="0">
                  <c:v>0</c:v>
                </c:pt>
                <c:pt idx="1">
                  <c:v>1-2</c:v>
                </c:pt>
                <c:pt idx="2">
                  <c:v>3-4</c:v>
                </c:pt>
                <c:pt idx="3">
                  <c:v>5+</c:v>
                </c:pt>
              </c:strCache>
            </c:strRef>
          </c:cat>
          <c:val>
            <c:numRef>
              <c:f>Planilha1!$B$2:$B$5</c:f>
              <c:numCache>
                <c:formatCode>0.0</c:formatCode>
                <c:ptCount val="4"/>
                <c:pt idx="0">
                  <c:v>8.52</c:v>
                </c:pt>
                <c:pt idx="1">
                  <c:v>6.58</c:v>
                </c:pt>
                <c:pt idx="2">
                  <c:v>4.54</c:v>
                </c:pt>
                <c:pt idx="3">
                  <c:v>3.2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798-4C9E-BA24-7E72E4236C0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30"/>
        <c:overlap val="-27"/>
        <c:axId val="2126190688"/>
        <c:axId val="2126193568"/>
      </c:barChart>
      <c:catAx>
        <c:axId val="21261906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126193568"/>
        <c:crosses val="autoZero"/>
        <c:auto val="1"/>
        <c:lblAlgn val="ctr"/>
        <c:lblOffset val="100"/>
        <c:noMultiLvlLbl val="0"/>
      </c:catAx>
      <c:valAx>
        <c:axId val="2126193568"/>
        <c:scaling>
          <c:orientation val="minMax"/>
          <c:max val="10"/>
        </c:scaling>
        <c:delete val="0"/>
        <c:axPos val="l"/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1" i="0" u="none" strike="noStrike" kern="1200" baseline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1261906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DE7313-9DCE-485E-AC2D-750EC06055AD}" type="datetimeFigureOut">
              <a:rPr lang="pt-BR" smtClean="0"/>
              <a:t>22/06/2026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F565AF-3983-4C47-B73E-A12809B8B5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09643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B3CDFC-863E-B07A-EC44-A37B90C2A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2DCE5DC-1E9B-7EDF-25F4-4F4C699F42DA}"/>
              </a:ext>
            </a:extLst>
          </p:cNvPr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6FCC67-CAA9-1648-9182-051A0C0A4DE3}"/>
              </a:ext>
            </a:extLst>
          </p:cNvPr>
          <p:cNvSpPr txBox="1"/>
          <p:nvPr/>
        </p:nvSpPr>
        <p:spPr>
          <a:xfrm>
            <a:off x="307167" y="328462"/>
            <a:ext cx="30876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800" b="1" i="0" dirty="0">
                <a:solidFill>
                  <a:srgbClr val="FFFFFF"/>
                </a:solidFill>
              </a:rPr>
              <a:t>Pontos de Atenção</a:t>
            </a:r>
            <a:endParaRPr sz="2800" b="1" i="0" dirty="0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C274F7-46A8-FE18-32F3-E9DA79662A35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3ECAAF-5112-98A2-306A-07503ED93E43}"/>
              </a:ext>
            </a:extLst>
          </p:cNvPr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pic>
        <p:nvPicPr>
          <p:cNvPr id="31" name="Imagem 30" descr="Atenção PNGs para download gratuito">
            <a:extLst>
              <a:ext uri="{FF2B5EF4-FFF2-40B4-BE49-F238E27FC236}">
                <a16:creationId xmlns:a16="http://schemas.microsoft.com/office/drawing/2014/main" id="{B45A269D-3161-675E-BF73-B69C6E8312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402" y="234774"/>
            <a:ext cx="719171" cy="719171"/>
          </a:xfrm>
          <a:prstGeom prst="rect">
            <a:avLst/>
          </a:prstGeom>
        </p:spPr>
      </p:pic>
      <p:sp>
        <p:nvSpPr>
          <p:cNvPr id="33" name="CaixaDeTexto 32">
            <a:extLst>
              <a:ext uri="{FF2B5EF4-FFF2-40B4-BE49-F238E27FC236}">
                <a16:creationId xmlns:a16="http://schemas.microsoft.com/office/drawing/2014/main" id="{0A3BF9C5-13D9-D7C3-A29B-EAAEEE8A75A9}"/>
              </a:ext>
            </a:extLst>
          </p:cNvPr>
          <p:cNvSpPr txBox="1"/>
          <p:nvPr/>
        </p:nvSpPr>
        <p:spPr>
          <a:xfrm>
            <a:off x="2121763" y="1367770"/>
            <a:ext cx="9657572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</a:lstStyle>
          <a:p>
            <a:r>
              <a:rPr lang="pt-BR" dirty="0"/>
              <a:t>- Baixo entendimento do negócio (visibilidade da empresa e suas concorrentes);</a:t>
            </a:r>
          </a:p>
          <a:p>
            <a:r>
              <a:rPr lang="pt-BR" dirty="0"/>
              <a:t>- Sem visibilidade de como (site e app – Android/IOS) e quando é feita a compra e a coleta do NPS;</a:t>
            </a:r>
          </a:p>
          <a:p>
            <a:r>
              <a:rPr lang="pt-BR" dirty="0"/>
              <a:t>- Sem informação se o produto é da empresa ou o e-commerce é apenas um marketplace (plataforma de venda de produtos de terceiros);</a:t>
            </a:r>
          </a:p>
          <a:p>
            <a:r>
              <a:rPr lang="pt-BR" dirty="0"/>
              <a:t>- Possibilidade do cliente confundir a nota do produto com a nota da experiência com o e-commerce.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- Sem informação de partição da amostra dos dados;</a:t>
            </a:r>
          </a:p>
          <a:p>
            <a:r>
              <a:rPr lang="pt-BR" dirty="0"/>
              <a:t>- Sem visibilidade da relação da amostragem de respondentes sobre o total de pedidos;</a:t>
            </a:r>
          </a:p>
          <a:p>
            <a:r>
              <a:rPr lang="pt-BR" dirty="0"/>
              <a:t>- Sem informação de datas (pedido, envio, recebimento e resposta);</a:t>
            </a:r>
          </a:p>
          <a:p>
            <a:r>
              <a:rPr lang="pt-BR" dirty="0"/>
              <a:t>- Sem visibilidade histórica de NPS (está melhorando ou piorando?);</a:t>
            </a:r>
          </a:p>
          <a:p>
            <a:r>
              <a:rPr lang="pt-BR" dirty="0"/>
              <a:t>- Sem clareza se </a:t>
            </a:r>
            <a:r>
              <a:rPr lang="pt-BR" dirty="0" err="1"/>
              <a:t>order_value</a:t>
            </a:r>
            <a:r>
              <a:rPr lang="pt-BR" dirty="0"/>
              <a:t> é realmente referente ao total do pedido (produto - desconto + frete);</a:t>
            </a:r>
          </a:p>
          <a:p>
            <a:r>
              <a:rPr lang="pt-BR" dirty="0"/>
              <a:t>- Sem clareza se </a:t>
            </a:r>
            <a:r>
              <a:rPr lang="pt-BR" dirty="0" err="1"/>
              <a:t>delivery_time_days</a:t>
            </a:r>
            <a:r>
              <a:rPr lang="pt-BR" dirty="0"/>
              <a:t> é realmente referente ao tempo total previsto ou realizado;</a:t>
            </a:r>
          </a:p>
          <a:p>
            <a:r>
              <a:rPr lang="pt-BR" dirty="0"/>
              <a:t>- Por não termos informações de data, a coluna repeat_purchase_30d passa a ser irrelevante, todas as operações podem ter sido feitas em D-1;</a:t>
            </a:r>
          </a:p>
          <a:p>
            <a:r>
              <a:rPr lang="pt-BR" dirty="0"/>
              <a:t>- Sem visibilidade de como o </a:t>
            </a:r>
            <a:r>
              <a:rPr lang="pt-BR" dirty="0" err="1"/>
              <a:t>nps_score</a:t>
            </a:r>
            <a:r>
              <a:rPr lang="pt-BR" dirty="0"/>
              <a:t> é composto (notas quebradas demonstram isso); </a:t>
            </a:r>
          </a:p>
          <a:p>
            <a:r>
              <a:rPr lang="pt-BR" dirty="0"/>
              <a:t>- Possível problema na marcação de identificação única do pedido e do usuário.</a:t>
            </a:r>
          </a:p>
        </p:txBody>
      </p:sp>
      <p:sp>
        <p:nvSpPr>
          <p:cNvPr id="35" name="Retângulo: Cantos Arredondados 34">
            <a:extLst>
              <a:ext uri="{FF2B5EF4-FFF2-40B4-BE49-F238E27FC236}">
                <a16:creationId xmlns:a16="http://schemas.microsoft.com/office/drawing/2014/main" id="{F123220B-6417-85FD-300D-13F94ED519F1}"/>
              </a:ext>
            </a:extLst>
          </p:cNvPr>
          <p:cNvSpPr/>
          <p:nvPr/>
        </p:nvSpPr>
        <p:spPr>
          <a:xfrm>
            <a:off x="409490" y="1816721"/>
            <a:ext cx="1295924" cy="447085"/>
          </a:xfrm>
          <a:prstGeom prst="roundRect">
            <a:avLst>
              <a:gd name="adj" fmla="val 11565"/>
            </a:avLst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/>
              <a:t>Discovery</a:t>
            </a:r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FC2F14F1-3B6B-3C89-8B7D-8A33CAD49289}"/>
              </a:ext>
            </a:extLst>
          </p:cNvPr>
          <p:cNvSpPr/>
          <p:nvPr/>
        </p:nvSpPr>
        <p:spPr>
          <a:xfrm>
            <a:off x="409490" y="4457345"/>
            <a:ext cx="1295924" cy="447085"/>
          </a:xfrm>
          <a:prstGeom prst="roundRect">
            <a:avLst>
              <a:gd name="adj" fmla="val 11565"/>
            </a:avLst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/>
              <a:t>Analysis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95870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727032"/>
            <a:ext cx="12188952" cy="11309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759306"/>
            <a:ext cx="100584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 dirty="0">
                <a:solidFill>
                  <a:srgbClr val="FFFFFF"/>
                </a:solidFill>
              </a:rPr>
              <a:t>Case</a:t>
            </a:r>
            <a:r>
              <a:rPr lang="pt-BR" sz="4400" b="1" i="0" dirty="0">
                <a:solidFill>
                  <a:srgbClr val="FFFFFF"/>
                </a:solidFill>
              </a:rPr>
              <a:t> 01 - </a:t>
            </a:r>
            <a:r>
              <a:rPr sz="4400" b="1" i="0" dirty="0">
                <a:solidFill>
                  <a:srgbClr val="FFFFFF"/>
                </a:solidFill>
              </a:rPr>
              <a:t>NPS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11897"/>
            <a:ext cx="10058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 dirty="0" err="1">
                <a:solidFill>
                  <a:srgbClr val="AACCFF"/>
                </a:solidFill>
              </a:rPr>
              <a:t>Análise</a:t>
            </a:r>
            <a:r>
              <a:rPr sz="3600" b="0" i="0" dirty="0">
                <a:solidFill>
                  <a:srgbClr val="AACCFF"/>
                </a:solidFill>
              </a:rPr>
              <a:t> de </a:t>
            </a:r>
            <a:r>
              <a:rPr sz="3600" b="0" i="0" dirty="0" err="1">
                <a:solidFill>
                  <a:srgbClr val="AACCFF"/>
                </a:solidFill>
              </a:rPr>
              <a:t>Satisfação</a:t>
            </a:r>
            <a:r>
              <a:rPr sz="3600" b="0" i="0" dirty="0">
                <a:solidFill>
                  <a:srgbClr val="AACCFF"/>
                </a:solidFill>
              </a:rPr>
              <a:t> de </a:t>
            </a:r>
            <a:r>
              <a:rPr sz="3600" b="0" i="0" dirty="0" err="1">
                <a:solidFill>
                  <a:srgbClr val="AACCFF"/>
                </a:solidFill>
              </a:rPr>
              <a:t>Clientes</a:t>
            </a:r>
            <a:r>
              <a:rPr sz="3600" b="0" i="0" dirty="0">
                <a:solidFill>
                  <a:srgbClr val="AACCFF"/>
                </a:solidFill>
              </a:rPr>
              <a:t> </a:t>
            </a:r>
            <a:r>
              <a:rPr lang="pt-BR" sz="3600" b="0" i="0" dirty="0">
                <a:solidFill>
                  <a:srgbClr val="AACCFF"/>
                </a:solidFill>
              </a:rPr>
              <a:t>no</a:t>
            </a:r>
            <a:r>
              <a:rPr sz="3600" b="0" i="0" dirty="0">
                <a:solidFill>
                  <a:srgbClr val="AACCFF"/>
                </a:solidFill>
              </a:rPr>
              <a:t> </a:t>
            </a:r>
            <a:r>
              <a:rPr lang="pt-BR" sz="3600" dirty="0">
                <a:solidFill>
                  <a:srgbClr val="AACCFF"/>
                </a:solidFill>
              </a:rPr>
              <a:t>E</a:t>
            </a:r>
            <a:r>
              <a:rPr sz="3600" b="0" i="0" dirty="0">
                <a:solidFill>
                  <a:srgbClr val="AACCFF"/>
                </a:solidFill>
              </a:rPr>
              <a:t>-commerce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3031206"/>
            <a:ext cx="393192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5212" y="3670027"/>
            <a:ext cx="1005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 dirty="0">
                <a:solidFill>
                  <a:srgbClr val="88AACC"/>
                </a:solidFill>
              </a:rPr>
              <a:t>Pós-Tech FIAP  |  1IAST  |  Tech Challenge Fase 1</a:t>
            </a:r>
          </a:p>
        </p:txBody>
      </p:sp>
      <p:sp>
        <p:nvSpPr>
          <p:cNvPr id="17" name="TextBox 6">
            <a:extLst>
              <a:ext uri="{FF2B5EF4-FFF2-40B4-BE49-F238E27FC236}">
                <a16:creationId xmlns:a16="http://schemas.microsoft.com/office/drawing/2014/main" id="{73F8FA8F-D09A-15BD-3E18-755880441E1B}"/>
              </a:ext>
            </a:extLst>
          </p:cNvPr>
          <p:cNvSpPr txBox="1"/>
          <p:nvPr/>
        </p:nvSpPr>
        <p:spPr>
          <a:xfrm>
            <a:off x="1065212" y="4131692"/>
            <a:ext cx="1005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0" i="0" dirty="0">
                <a:solidFill>
                  <a:schemeClr val="bg1"/>
                </a:solidFill>
              </a:rPr>
              <a:t>Felipe Barbato de Biaggio</a:t>
            </a:r>
            <a:endParaRPr sz="2400" b="0" i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4CEE9-CA19-841C-652E-20D87C4DB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tângulo 16">
            <a:extLst>
              <a:ext uri="{FF2B5EF4-FFF2-40B4-BE49-F238E27FC236}">
                <a16:creationId xmlns:a16="http://schemas.microsoft.com/office/drawing/2014/main" id="{FBE3A257-42CE-6975-F7C8-06A72445956B}"/>
              </a:ext>
            </a:extLst>
          </p:cNvPr>
          <p:cNvSpPr/>
          <p:nvPr/>
        </p:nvSpPr>
        <p:spPr>
          <a:xfrm>
            <a:off x="0" y="43873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9411C6-DB2B-940F-4EF8-50C9D2D3D10D}"/>
              </a:ext>
            </a:extLst>
          </p:cNvPr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BFD5AF-2A1D-4CD2-0D7D-3AC4662623BB}"/>
              </a:ext>
            </a:extLst>
          </p:cNvPr>
          <p:cNvSpPr txBox="1"/>
          <p:nvPr/>
        </p:nvSpPr>
        <p:spPr>
          <a:xfrm>
            <a:off x="379412" y="3227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</a:rPr>
              <a:t>O </a:t>
            </a:r>
            <a:r>
              <a:rPr sz="2800" b="1" i="0" dirty="0" err="1">
                <a:solidFill>
                  <a:srgbClr val="FFFFFF"/>
                </a:solidFill>
              </a:rPr>
              <a:t>Problema</a:t>
            </a:r>
            <a:r>
              <a:rPr sz="2800" b="1" i="0" dirty="0">
                <a:solidFill>
                  <a:srgbClr val="FFFFFF"/>
                </a:solidFill>
              </a:rPr>
              <a:t> de </a:t>
            </a:r>
            <a:r>
              <a:rPr sz="2800" b="1" i="0" dirty="0" err="1">
                <a:solidFill>
                  <a:srgbClr val="FFFFFF"/>
                </a:solidFill>
              </a:rPr>
              <a:t>Negócio</a:t>
            </a:r>
            <a:endParaRPr sz="2800" b="1" i="0" dirty="0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5008F9-A624-D706-1FF9-6C7B0406704D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6E4A25-3B70-4CB8-BC4D-909E88D9CDCF}"/>
              </a:ext>
            </a:extLst>
          </p:cNvPr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0B87C7-539E-1EF0-8FAF-7F3778CAEE1F}"/>
              </a:ext>
            </a:extLst>
          </p:cNvPr>
          <p:cNvSpPr txBox="1"/>
          <p:nvPr/>
        </p:nvSpPr>
        <p:spPr>
          <a:xfrm>
            <a:off x="365760" y="1417320"/>
            <a:ext cx="5486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1F4E79"/>
                </a:solidFill>
              </a:rPr>
              <a:t>Situação</a:t>
            </a:r>
            <a:r>
              <a:rPr sz="2000" b="1" i="0" dirty="0">
                <a:solidFill>
                  <a:srgbClr val="1F4E79"/>
                </a:solidFill>
              </a:rPr>
              <a:t> </a:t>
            </a:r>
            <a:r>
              <a:rPr sz="2000" b="1" i="0" dirty="0" err="1">
                <a:solidFill>
                  <a:srgbClr val="1F4E79"/>
                </a:solidFill>
              </a:rPr>
              <a:t>atual</a:t>
            </a:r>
            <a:r>
              <a:rPr sz="2000" b="1" i="0" dirty="0">
                <a:solidFill>
                  <a:srgbClr val="1F4E79"/>
                </a:solidFill>
              </a:rPr>
              <a:t>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3F18DB-427C-4520-D3D9-217358F116A6}"/>
              </a:ext>
            </a:extLst>
          </p:cNvPr>
          <p:cNvSpPr txBox="1"/>
          <p:nvPr/>
        </p:nvSpPr>
        <p:spPr>
          <a:xfrm>
            <a:off x="365760" y="2097643"/>
            <a:ext cx="9421036" cy="1887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444444"/>
                </a:solidFill>
              </a:rPr>
              <a:t>As avaliações que geram o NPS são </a:t>
            </a:r>
            <a:r>
              <a:rPr b="0" i="0" dirty="0" err="1">
                <a:solidFill>
                  <a:srgbClr val="444444"/>
                </a:solidFill>
              </a:rPr>
              <a:t>coletad</a:t>
            </a:r>
            <a:r>
              <a:rPr lang="pt-BR" b="0" i="0" dirty="0">
                <a:solidFill>
                  <a:srgbClr val="444444"/>
                </a:solidFill>
              </a:rPr>
              <a:t>as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b="0" i="0" dirty="0" err="1">
                <a:solidFill>
                  <a:srgbClr val="444444"/>
                </a:solidFill>
              </a:rPr>
              <a:t>após</a:t>
            </a:r>
            <a:r>
              <a:rPr b="0" i="0" dirty="0">
                <a:solidFill>
                  <a:srgbClr val="444444"/>
                </a:solidFill>
              </a:rPr>
              <a:t> o </a:t>
            </a:r>
            <a:r>
              <a:rPr b="0" i="0" dirty="0" err="1">
                <a:solidFill>
                  <a:srgbClr val="444444"/>
                </a:solidFill>
              </a:rPr>
              <a:t>encerramento</a:t>
            </a:r>
            <a:r>
              <a:rPr b="0" i="0" dirty="0">
                <a:solidFill>
                  <a:srgbClr val="444444"/>
                </a:solidFill>
              </a:rPr>
              <a:t> da jornada de </a:t>
            </a:r>
            <a:r>
              <a:rPr b="0" i="0" dirty="0" err="1">
                <a:solidFill>
                  <a:srgbClr val="444444"/>
                </a:solidFill>
              </a:rPr>
              <a:t>compra</a:t>
            </a:r>
            <a:r>
              <a:rPr lang="pt-BR" b="0" i="0" dirty="0">
                <a:solidFill>
                  <a:srgbClr val="444444"/>
                </a:solidFill>
              </a:rPr>
              <a:t>;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444444"/>
                </a:solidFill>
              </a:rPr>
              <a:t>Sem visibilidade do NPS da empresa;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444444"/>
                </a:solidFill>
              </a:rPr>
              <a:t>Sem visibilidade dos principais culpados nas baixas avaliações;</a:t>
            </a:r>
            <a:endParaRPr b="0" i="0" dirty="0">
              <a:solidFill>
                <a:srgbClr val="444444"/>
              </a:solidFill>
            </a:endParaRP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b="0" i="0" dirty="0">
                <a:solidFill>
                  <a:srgbClr val="444444"/>
                </a:solidFill>
              </a:rPr>
              <a:t>A </a:t>
            </a:r>
            <a:r>
              <a:rPr b="0" i="0" dirty="0" err="1">
                <a:solidFill>
                  <a:srgbClr val="444444"/>
                </a:solidFill>
              </a:rPr>
              <a:t>empresa</a:t>
            </a:r>
            <a:r>
              <a:rPr b="0" i="0" dirty="0">
                <a:solidFill>
                  <a:srgbClr val="444444"/>
                </a:solidFill>
              </a:rPr>
              <a:t> não </a:t>
            </a:r>
            <a:r>
              <a:rPr b="0" i="0" dirty="0" err="1">
                <a:solidFill>
                  <a:srgbClr val="444444"/>
                </a:solidFill>
              </a:rPr>
              <a:t>consegue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b="0" i="0" dirty="0" err="1">
                <a:solidFill>
                  <a:srgbClr val="444444"/>
                </a:solidFill>
              </a:rPr>
              <a:t>antecipar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b="0" i="0" dirty="0" err="1">
                <a:solidFill>
                  <a:srgbClr val="444444"/>
                </a:solidFill>
              </a:rPr>
              <a:t>problemas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lang="pt-BR" b="0" i="0" dirty="0">
                <a:solidFill>
                  <a:srgbClr val="444444"/>
                </a:solidFill>
              </a:rPr>
              <a:t>e </a:t>
            </a:r>
            <a:r>
              <a:rPr b="0" i="0" dirty="0" err="1">
                <a:solidFill>
                  <a:srgbClr val="444444"/>
                </a:solidFill>
              </a:rPr>
              <a:t>nem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b="0" i="0" dirty="0" err="1">
                <a:solidFill>
                  <a:srgbClr val="444444"/>
                </a:solidFill>
              </a:rPr>
              <a:t>agir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b="0" i="0" dirty="0" err="1">
                <a:solidFill>
                  <a:srgbClr val="444444"/>
                </a:solidFill>
              </a:rPr>
              <a:t>preventivamente</a:t>
            </a:r>
            <a:r>
              <a:rPr lang="pt-BR" b="0" i="0" dirty="0">
                <a:solidFill>
                  <a:srgbClr val="444444"/>
                </a:solidFill>
              </a:rPr>
              <a:t>;</a:t>
            </a:r>
            <a:endParaRPr b="0" i="0" dirty="0">
              <a:solidFill>
                <a:srgbClr val="444444"/>
              </a:solidFill>
            </a:endParaRP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b="0" i="0" dirty="0">
                <a:solidFill>
                  <a:srgbClr val="444444"/>
                </a:solidFill>
              </a:rPr>
              <a:t>Alto volume de </a:t>
            </a:r>
            <a:r>
              <a:rPr b="0" i="0" dirty="0" err="1">
                <a:solidFill>
                  <a:srgbClr val="444444"/>
                </a:solidFill>
              </a:rPr>
              <a:t>detratores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b="0" i="0" dirty="0" err="1">
                <a:solidFill>
                  <a:srgbClr val="444444"/>
                </a:solidFill>
              </a:rPr>
              <a:t>gera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b="0" i="0" dirty="0" err="1">
                <a:solidFill>
                  <a:srgbClr val="444444"/>
                </a:solidFill>
              </a:rPr>
              <a:t>risco</a:t>
            </a:r>
            <a:r>
              <a:rPr b="0" i="0" dirty="0">
                <a:solidFill>
                  <a:srgbClr val="444444"/>
                </a:solidFill>
              </a:rPr>
              <a:t> de churn, </a:t>
            </a:r>
            <a:r>
              <a:rPr b="0" i="0" dirty="0" err="1">
                <a:solidFill>
                  <a:srgbClr val="444444"/>
                </a:solidFill>
              </a:rPr>
              <a:t>reputação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b="0" i="0" dirty="0" err="1">
                <a:solidFill>
                  <a:srgbClr val="444444"/>
                </a:solidFill>
              </a:rPr>
              <a:t>negativa</a:t>
            </a:r>
            <a:r>
              <a:rPr b="0" i="0" dirty="0">
                <a:solidFill>
                  <a:srgbClr val="444444"/>
                </a:solidFill>
              </a:rPr>
              <a:t> e </a:t>
            </a:r>
            <a:r>
              <a:rPr lang="pt-BR" b="0" i="0" dirty="0">
                <a:solidFill>
                  <a:srgbClr val="444444"/>
                </a:solidFill>
              </a:rPr>
              <a:t>aumento</a:t>
            </a:r>
            <a:r>
              <a:rPr b="0" i="0" dirty="0">
                <a:solidFill>
                  <a:srgbClr val="444444"/>
                </a:solidFill>
              </a:rPr>
              <a:t> no CAC</a:t>
            </a:r>
            <a:r>
              <a:rPr lang="pt-BR" b="0" i="0" dirty="0">
                <a:solidFill>
                  <a:srgbClr val="444444"/>
                </a:solidFill>
              </a:rPr>
              <a:t>.</a:t>
            </a:r>
            <a:endParaRPr b="0" i="0" dirty="0">
              <a:solidFill>
                <a:srgbClr val="444444"/>
              </a:solidFill>
            </a:endParaRPr>
          </a:p>
        </p:txBody>
      </p:sp>
      <p:sp>
        <p:nvSpPr>
          <p:cNvPr id="21" name="TextBox 6">
            <a:extLst>
              <a:ext uri="{FF2B5EF4-FFF2-40B4-BE49-F238E27FC236}">
                <a16:creationId xmlns:a16="http://schemas.microsoft.com/office/drawing/2014/main" id="{FEDBAD19-E13C-6B0C-D437-75A34A6B6D01}"/>
              </a:ext>
            </a:extLst>
          </p:cNvPr>
          <p:cNvSpPr txBox="1"/>
          <p:nvPr/>
        </p:nvSpPr>
        <p:spPr>
          <a:xfrm>
            <a:off x="365760" y="4325800"/>
            <a:ext cx="5486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000" b="1" i="0" dirty="0">
                <a:solidFill>
                  <a:srgbClr val="1F4E79"/>
                </a:solidFill>
              </a:rPr>
              <a:t>Pergunta central:</a:t>
            </a:r>
            <a:endParaRPr sz="2000" b="1" i="0" dirty="0">
              <a:solidFill>
                <a:srgbClr val="1F4E79"/>
              </a:solidFill>
            </a:endParaRPr>
          </a:p>
        </p:txBody>
      </p:sp>
      <p:sp>
        <p:nvSpPr>
          <p:cNvPr id="23" name="TextBox 7">
            <a:extLst>
              <a:ext uri="{FF2B5EF4-FFF2-40B4-BE49-F238E27FC236}">
                <a16:creationId xmlns:a16="http://schemas.microsoft.com/office/drawing/2014/main" id="{C8DF718F-F208-DD0D-3235-0428603C6E20}"/>
              </a:ext>
            </a:extLst>
          </p:cNvPr>
          <p:cNvSpPr txBox="1"/>
          <p:nvPr/>
        </p:nvSpPr>
        <p:spPr>
          <a:xfrm>
            <a:off x="365760" y="4606013"/>
            <a:ext cx="9421036" cy="1025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dirty="0"/>
          </a:p>
          <a:p>
            <a:pPr algn="l">
              <a:spcBef>
                <a:spcPts val="800"/>
              </a:spcBef>
            </a:pPr>
            <a:r>
              <a:rPr lang="pt-BR" b="0" i="0" dirty="0">
                <a:solidFill>
                  <a:srgbClr val="444444"/>
                </a:solidFill>
              </a:rPr>
              <a:t>"Quais fatores operacionais realmente influenciam a satisfação do cliente e como a empresa pode agir de forma proativa antes da pesquisa de NPS?"</a:t>
            </a:r>
          </a:p>
        </p:txBody>
      </p:sp>
    </p:spTree>
    <p:extLst>
      <p:ext uri="{BB962C8B-B14F-4D97-AF65-F5344CB8AC3E}">
        <p14:creationId xmlns:p14="http://schemas.microsoft.com/office/powerpoint/2010/main" val="18826977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5852" y="35561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 err="1">
                <a:solidFill>
                  <a:srgbClr val="FFFFFF"/>
                </a:solidFill>
              </a:rPr>
              <a:t>Diagnóstico</a:t>
            </a:r>
            <a:r>
              <a:rPr sz="2800" b="1" i="0" dirty="0">
                <a:solidFill>
                  <a:srgbClr val="FFFFFF"/>
                </a:solidFill>
              </a:rPr>
              <a:t>: O NPS da Empresa é </a:t>
            </a:r>
            <a:r>
              <a:rPr sz="2800" b="1" i="0" dirty="0" err="1">
                <a:solidFill>
                  <a:schemeClr val="bg1"/>
                </a:solidFill>
              </a:rPr>
              <a:t>Crítico</a:t>
            </a:r>
            <a:endParaRPr sz="2800" b="1" i="0" dirty="0">
              <a:solidFill>
                <a:schemeClr val="bg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solidFill>
                  <a:srgbClr val="99BBDD"/>
                </a:solidFill>
              </a:rPr>
              <a:t>Tech Challenge Fase 1 | NPS </a:t>
            </a:r>
            <a:r>
              <a:rPr sz="900" b="0" i="0" dirty="0" err="1">
                <a:solidFill>
                  <a:srgbClr val="99BBDD"/>
                </a:solidFill>
              </a:rPr>
              <a:t>Preditivo</a:t>
            </a:r>
            <a:r>
              <a:rPr sz="900" b="0" i="0" dirty="0">
                <a:solidFill>
                  <a:srgbClr val="99BBDD"/>
                </a:solidFill>
              </a:rPr>
              <a:t> | Pós-Tech FIAP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256032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2560320" cy="1554480"/>
          </a:xfrm>
          <a:prstGeom prst="rect">
            <a:avLst/>
          </a:prstGeom>
          <a:noFill/>
          <a:ln w="317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653613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 dirty="0">
                <a:solidFill>
                  <a:srgbClr val="C0392B"/>
                </a:solidFill>
              </a:rPr>
              <a:t>-80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35860"/>
            <a:ext cx="2560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444444"/>
                </a:solidFill>
              </a:rPr>
              <a:t>NPS da Empresa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95631" y="1417320"/>
            <a:ext cx="256032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95631" y="1417320"/>
            <a:ext cx="2560320" cy="1554480"/>
          </a:xfrm>
          <a:prstGeom prst="rect">
            <a:avLst/>
          </a:prstGeom>
          <a:noFill/>
          <a:ln w="317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95631" y="1653613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0392B"/>
                </a:solidFill>
              </a:rPr>
              <a:t>84,4%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5631" y="2435860"/>
            <a:ext cx="2560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44444"/>
                </a:solidFill>
              </a:rPr>
              <a:t>Detratores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38831" y="1417320"/>
            <a:ext cx="256032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38831" y="1417320"/>
            <a:ext cx="2560320" cy="1554480"/>
          </a:xfrm>
          <a:prstGeom prst="rect">
            <a:avLst/>
          </a:prstGeom>
          <a:noFill/>
          <a:ln w="317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8831" y="1653613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39C12"/>
                </a:solidFill>
              </a:rPr>
              <a:t>11,2%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8831" y="2435860"/>
            <a:ext cx="2560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44444"/>
                </a:solidFill>
              </a:rPr>
              <a:t>Neutros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82031" y="1417320"/>
            <a:ext cx="256032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182031" y="1417320"/>
            <a:ext cx="2560320" cy="1554480"/>
          </a:xfrm>
          <a:prstGeom prst="rect">
            <a:avLst/>
          </a:prstGeom>
          <a:noFill/>
          <a:ln w="31750">
            <a:solidFill>
              <a:srgbClr val="1E8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82031" y="1653613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E8B4C"/>
                </a:solidFill>
              </a:rPr>
              <a:t>4,4%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2031" y="2435860"/>
            <a:ext cx="2560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44444"/>
                </a:solidFill>
              </a:rPr>
              <a:t>Promotores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246120"/>
            <a:ext cx="11430000" cy="25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252650" y="3375893"/>
            <a:ext cx="1143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1A253A"/>
                </a:solidFill>
              </a:rPr>
              <a:t>O </a:t>
            </a:r>
            <a:r>
              <a:rPr sz="2000" b="1" i="0" dirty="0" err="1">
                <a:solidFill>
                  <a:srgbClr val="1A253A"/>
                </a:solidFill>
              </a:rPr>
              <a:t>que</a:t>
            </a:r>
            <a:r>
              <a:rPr sz="2000" b="1" i="0" dirty="0">
                <a:solidFill>
                  <a:srgbClr val="1A253A"/>
                </a:solidFill>
              </a:rPr>
              <a:t> esses </a:t>
            </a:r>
            <a:r>
              <a:rPr sz="2000" b="1" i="0" dirty="0" err="1">
                <a:solidFill>
                  <a:srgbClr val="1A253A"/>
                </a:solidFill>
              </a:rPr>
              <a:t>números</a:t>
            </a:r>
            <a:r>
              <a:rPr sz="2000" b="1" i="0" dirty="0">
                <a:solidFill>
                  <a:srgbClr val="1A253A"/>
                </a:solidFill>
              </a:rPr>
              <a:t> </a:t>
            </a:r>
            <a:r>
              <a:rPr sz="2000" b="1" i="0" dirty="0" err="1">
                <a:solidFill>
                  <a:srgbClr val="1A253A"/>
                </a:solidFill>
              </a:rPr>
              <a:t>significam</a:t>
            </a:r>
            <a:r>
              <a:rPr sz="2000" b="1" i="0" dirty="0">
                <a:solidFill>
                  <a:srgbClr val="1A253A"/>
                </a:solidFill>
              </a:rPr>
              <a:t> para o </a:t>
            </a:r>
            <a:r>
              <a:rPr sz="2000" b="1" i="0" dirty="0" err="1">
                <a:solidFill>
                  <a:srgbClr val="1A253A"/>
                </a:solidFill>
              </a:rPr>
              <a:t>negócio</a:t>
            </a:r>
            <a:r>
              <a:rPr sz="2000" b="1" i="0" dirty="0">
                <a:solidFill>
                  <a:srgbClr val="1A253A"/>
                </a:solidFill>
              </a:rPr>
              <a:t>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52650" y="3925636"/>
            <a:ext cx="3566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1F4E79"/>
                </a:solidFill>
              </a:rPr>
              <a:t>NPS -80 é </a:t>
            </a:r>
            <a:r>
              <a:rPr b="1" i="0" dirty="0" err="1">
                <a:solidFill>
                  <a:srgbClr val="1F4E79"/>
                </a:solidFill>
              </a:rPr>
              <a:t>crítico</a:t>
            </a:r>
            <a:endParaRPr b="1" i="0" dirty="0">
              <a:solidFill>
                <a:srgbClr val="1F4E79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252650" y="4337116"/>
            <a:ext cx="35661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444444"/>
                </a:solidFill>
              </a:rPr>
              <a:t>Benchmarks do e-commerce </a:t>
            </a:r>
            <a:r>
              <a:rPr sz="1600" b="0" i="0" dirty="0" err="1">
                <a:solidFill>
                  <a:srgbClr val="444444"/>
                </a:solidFill>
              </a:rPr>
              <a:t>brasileiro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indicam</a:t>
            </a:r>
            <a:r>
              <a:rPr sz="1600" b="0" i="0" dirty="0">
                <a:solidFill>
                  <a:srgbClr val="444444"/>
                </a:solidFill>
              </a:rPr>
              <a:t> NPS </a:t>
            </a:r>
            <a:r>
              <a:rPr sz="1600" b="0" i="0" dirty="0" err="1">
                <a:solidFill>
                  <a:srgbClr val="444444"/>
                </a:solidFill>
              </a:rPr>
              <a:t>saudável</a:t>
            </a:r>
            <a:r>
              <a:rPr sz="1600" b="0" i="0" dirty="0">
                <a:solidFill>
                  <a:srgbClr val="444444"/>
                </a:solidFill>
              </a:rPr>
              <a:t> entre +30 e +65. Um NPS de -80 </a:t>
            </a:r>
            <a:r>
              <a:rPr sz="1600" b="0" i="0" dirty="0" err="1">
                <a:solidFill>
                  <a:srgbClr val="444444"/>
                </a:solidFill>
              </a:rPr>
              <a:t>significa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que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há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mais</a:t>
            </a:r>
            <a:r>
              <a:rPr sz="1600" b="0" i="0" dirty="0">
                <a:solidFill>
                  <a:srgbClr val="444444"/>
                </a:solidFill>
              </a:rPr>
              <a:t> de 16x </a:t>
            </a:r>
            <a:r>
              <a:rPr sz="1600" b="0" i="0" dirty="0" err="1">
                <a:solidFill>
                  <a:srgbClr val="444444"/>
                </a:solidFill>
              </a:rPr>
              <a:t>mais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detratores</a:t>
            </a:r>
            <a:r>
              <a:rPr sz="1600" b="0" i="0" dirty="0">
                <a:solidFill>
                  <a:srgbClr val="444444"/>
                </a:solidFill>
              </a:rPr>
              <a:t> do </a:t>
            </a:r>
            <a:r>
              <a:rPr sz="1600" b="0" i="0" dirty="0" err="1">
                <a:solidFill>
                  <a:srgbClr val="444444"/>
                </a:solidFill>
              </a:rPr>
              <a:t>que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promotores</a:t>
            </a:r>
            <a:r>
              <a:rPr sz="1600" b="0" i="0" dirty="0">
                <a:solidFill>
                  <a:srgbClr val="444444"/>
                </a:solidFill>
              </a:rPr>
              <a:t>.</a:t>
            </a:r>
            <a:r>
              <a:rPr lang="pt-BR" sz="1600" b="0" i="0" dirty="0">
                <a:solidFill>
                  <a:srgbClr val="444444"/>
                </a:solidFill>
              </a:rPr>
              <a:t> </a:t>
            </a:r>
            <a:endParaRPr sz="1600" b="0" i="0" dirty="0">
              <a:solidFill>
                <a:srgbClr val="444444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229600" y="3915274"/>
            <a:ext cx="3566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1F4E79"/>
                </a:solidFill>
              </a:rPr>
              <a:t>84% de </a:t>
            </a:r>
            <a:r>
              <a:rPr b="1" i="0" dirty="0" err="1">
                <a:solidFill>
                  <a:srgbClr val="1F4E79"/>
                </a:solidFill>
              </a:rPr>
              <a:t>detratores</a:t>
            </a:r>
            <a:endParaRPr b="1" i="0" dirty="0">
              <a:solidFill>
                <a:srgbClr val="1F4E79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229600" y="4326754"/>
            <a:ext cx="35661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rgbClr val="444444"/>
                </a:solidFill>
              </a:rPr>
              <a:t>Clientes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insatisfeitos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têm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alta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probabilidade</a:t>
            </a:r>
            <a:r>
              <a:rPr sz="1600" b="0" i="0" dirty="0">
                <a:solidFill>
                  <a:srgbClr val="444444"/>
                </a:solidFill>
              </a:rPr>
              <a:t> de churn, </a:t>
            </a:r>
            <a:r>
              <a:rPr sz="1600" b="0" i="0" dirty="0" err="1">
                <a:solidFill>
                  <a:srgbClr val="444444"/>
                </a:solidFill>
              </a:rPr>
              <a:t>geram</a:t>
            </a:r>
            <a:r>
              <a:rPr sz="1600" b="0" i="0" dirty="0">
                <a:solidFill>
                  <a:srgbClr val="444444"/>
                </a:solidFill>
              </a:rPr>
              <a:t> reviews </a:t>
            </a:r>
            <a:r>
              <a:rPr sz="1600" b="0" i="0" dirty="0" err="1">
                <a:solidFill>
                  <a:srgbClr val="444444"/>
                </a:solidFill>
              </a:rPr>
              <a:t>negativos</a:t>
            </a:r>
            <a:r>
              <a:rPr sz="1600" b="0" i="0" dirty="0">
                <a:solidFill>
                  <a:srgbClr val="444444"/>
                </a:solidFill>
              </a:rPr>
              <a:t> e </a:t>
            </a:r>
            <a:r>
              <a:rPr sz="1600" b="0" i="0" dirty="0" err="1">
                <a:solidFill>
                  <a:srgbClr val="444444"/>
                </a:solidFill>
              </a:rPr>
              <a:t>aumentam</a:t>
            </a:r>
            <a:r>
              <a:rPr sz="1600" b="0" i="0" dirty="0">
                <a:solidFill>
                  <a:srgbClr val="444444"/>
                </a:solidFill>
              </a:rPr>
              <a:t> o </a:t>
            </a:r>
            <a:r>
              <a:rPr sz="1600" b="0" i="0" dirty="0" err="1">
                <a:solidFill>
                  <a:srgbClr val="444444"/>
                </a:solidFill>
              </a:rPr>
              <a:t>custo</a:t>
            </a:r>
            <a:r>
              <a:rPr sz="1600" b="0" i="0" dirty="0">
                <a:solidFill>
                  <a:srgbClr val="444444"/>
                </a:solidFill>
              </a:rPr>
              <a:t> de </a:t>
            </a:r>
            <a:r>
              <a:rPr sz="1600" b="0" i="0" dirty="0" err="1">
                <a:solidFill>
                  <a:srgbClr val="444444"/>
                </a:solidFill>
              </a:rPr>
              <a:t>aquisição</a:t>
            </a:r>
            <a:r>
              <a:rPr sz="1600" b="0" i="0" dirty="0">
                <a:solidFill>
                  <a:srgbClr val="444444"/>
                </a:solidFill>
              </a:rPr>
              <a:t> de </a:t>
            </a:r>
            <a:r>
              <a:rPr sz="1600" b="0" i="0" dirty="0" err="1">
                <a:solidFill>
                  <a:srgbClr val="444444"/>
                </a:solidFill>
              </a:rPr>
              <a:t>novos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clientes</a:t>
            </a:r>
            <a:r>
              <a:rPr sz="1600" b="0" i="0" dirty="0">
                <a:solidFill>
                  <a:srgbClr val="444444"/>
                </a:solidFill>
              </a:rPr>
              <a:t> (CAC).</a:t>
            </a:r>
          </a:p>
        </p:txBody>
      </p:sp>
      <p:graphicFrame>
        <p:nvGraphicFramePr>
          <p:cNvPr id="35" name="Gráfico 34">
            <a:extLst>
              <a:ext uri="{FF2B5EF4-FFF2-40B4-BE49-F238E27FC236}">
                <a16:creationId xmlns:a16="http://schemas.microsoft.com/office/drawing/2014/main" id="{0FA34926-5B4E-1BA8-85A6-25130DF27D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6916236"/>
              </p:ext>
            </p:extLst>
          </p:nvPr>
        </p:nvGraphicFramePr>
        <p:xfrm>
          <a:off x="-152716" y="3586481"/>
          <a:ext cx="4974097" cy="27226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7" name="TextBox 9">
            <a:extLst>
              <a:ext uri="{FF2B5EF4-FFF2-40B4-BE49-F238E27FC236}">
                <a16:creationId xmlns:a16="http://schemas.microsoft.com/office/drawing/2014/main" id="{E8E877C4-D633-1F1F-9B0F-530BF9BCCE3F}"/>
              </a:ext>
            </a:extLst>
          </p:cNvPr>
          <p:cNvSpPr txBox="1"/>
          <p:nvPr/>
        </p:nvSpPr>
        <p:spPr>
          <a:xfrm>
            <a:off x="1055953" y="3401186"/>
            <a:ext cx="113607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0" i="0" dirty="0">
                <a:solidFill>
                  <a:srgbClr val="444444"/>
                </a:solidFill>
              </a:rPr>
              <a:t>Promotor</a:t>
            </a:r>
            <a:endParaRPr sz="1600" b="0" i="0" dirty="0">
              <a:solidFill>
                <a:srgbClr val="444444"/>
              </a:solidFill>
            </a:endParaRPr>
          </a:p>
        </p:txBody>
      </p:sp>
      <p:sp>
        <p:nvSpPr>
          <p:cNvPr id="39" name="TextBox 9">
            <a:extLst>
              <a:ext uri="{FF2B5EF4-FFF2-40B4-BE49-F238E27FC236}">
                <a16:creationId xmlns:a16="http://schemas.microsoft.com/office/drawing/2014/main" id="{4198A908-1155-5AEF-5FDC-C77D2B344939}"/>
              </a:ext>
            </a:extLst>
          </p:cNvPr>
          <p:cNvSpPr txBox="1"/>
          <p:nvPr/>
        </p:nvSpPr>
        <p:spPr>
          <a:xfrm>
            <a:off x="232970" y="3775417"/>
            <a:ext cx="113607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0" i="0" dirty="0">
                <a:solidFill>
                  <a:srgbClr val="444444"/>
                </a:solidFill>
              </a:rPr>
              <a:t>Neutro</a:t>
            </a:r>
            <a:endParaRPr sz="1600" b="0" i="0" dirty="0">
              <a:solidFill>
                <a:srgbClr val="444444"/>
              </a:solidFill>
            </a:endParaRPr>
          </a:p>
        </p:txBody>
      </p:sp>
      <p:sp>
        <p:nvSpPr>
          <p:cNvPr id="41" name="TextBox 9">
            <a:extLst>
              <a:ext uri="{FF2B5EF4-FFF2-40B4-BE49-F238E27FC236}">
                <a16:creationId xmlns:a16="http://schemas.microsoft.com/office/drawing/2014/main" id="{00A54F8A-F225-F0AB-9A3C-78015520FEAD}"/>
              </a:ext>
            </a:extLst>
          </p:cNvPr>
          <p:cNvSpPr txBox="1"/>
          <p:nvPr/>
        </p:nvSpPr>
        <p:spPr>
          <a:xfrm>
            <a:off x="2722170" y="5871577"/>
            <a:ext cx="113607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b="0" i="0" dirty="0">
                <a:solidFill>
                  <a:srgbClr val="444444"/>
                </a:solidFill>
              </a:rPr>
              <a:t>Detrator</a:t>
            </a:r>
            <a:endParaRPr sz="1600" b="0" i="0" dirty="0">
              <a:solidFill>
                <a:srgbClr val="444444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354164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</a:rPr>
              <a:t>Fator #1: </a:t>
            </a:r>
            <a:r>
              <a:rPr sz="2800" b="1" i="0" dirty="0" err="1">
                <a:solidFill>
                  <a:srgbClr val="FFFFFF"/>
                </a:solidFill>
              </a:rPr>
              <a:t>Atraso</a:t>
            </a:r>
            <a:r>
              <a:rPr sz="2800" b="1" i="0" dirty="0">
                <a:solidFill>
                  <a:srgbClr val="FFFFFF"/>
                </a:solidFill>
              </a:rPr>
              <a:t> </a:t>
            </a:r>
            <a:r>
              <a:rPr sz="2800" b="1" i="0" dirty="0" err="1">
                <a:solidFill>
                  <a:srgbClr val="FFFFFF"/>
                </a:solidFill>
              </a:rPr>
              <a:t>na</a:t>
            </a:r>
            <a:r>
              <a:rPr sz="2800" b="1" i="0" dirty="0">
                <a:solidFill>
                  <a:srgbClr val="FFFFFF"/>
                </a:solidFill>
              </a:rPr>
              <a:t> Entrega é o Principal </a:t>
            </a:r>
            <a:r>
              <a:rPr sz="2800" b="1" i="0" dirty="0" err="1">
                <a:solidFill>
                  <a:srgbClr val="FFFFFF"/>
                </a:solidFill>
              </a:rPr>
              <a:t>Vilão</a:t>
            </a:r>
            <a:endParaRPr sz="2800" b="1" i="0"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6804" y="1393052"/>
            <a:ext cx="5029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b="1" i="0" dirty="0">
                <a:solidFill>
                  <a:srgbClr val="1A253A"/>
                </a:solidFill>
              </a:rPr>
              <a:t>Média das Notas</a:t>
            </a:r>
            <a:r>
              <a:rPr b="1" i="0" dirty="0">
                <a:solidFill>
                  <a:srgbClr val="1A253A"/>
                </a:solidFill>
              </a:rPr>
              <a:t> </a:t>
            </a:r>
            <a:r>
              <a:rPr b="1" i="0" dirty="0" err="1">
                <a:solidFill>
                  <a:srgbClr val="1A253A"/>
                </a:solidFill>
              </a:rPr>
              <a:t>por</a:t>
            </a:r>
            <a:r>
              <a:rPr b="1" i="0" dirty="0">
                <a:solidFill>
                  <a:srgbClr val="1A253A"/>
                </a:solidFill>
              </a:rPr>
              <a:t> </a:t>
            </a:r>
            <a:r>
              <a:rPr b="1" i="0" dirty="0" err="1">
                <a:solidFill>
                  <a:srgbClr val="1A253A"/>
                </a:solidFill>
              </a:rPr>
              <a:t>Faixa</a:t>
            </a:r>
            <a:r>
              <a:rPr b="1" i="0" dirty="0">
                <a:solidFill>
                  <a:srgbClr val="1A253A"/>
                </a:solidFill>
              </a:rPr>
              <a:t> de </a:t>
            </a:r>
            <a:r>
              <a:rPr b="1" i="0" dirty="0" err="1">
                <a:solidFill>
                  <a:srgbClr val="1A253A"/>
                </a:solidFill>
              </a:rPr>
              <a:t>Atraso</a:t>
            </a:r>
            <a:endParaRPr b="1" i="0" dirty="0">
              <a:solidFill>
                <a:srgbClr val="1A253A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712677" y="1432366"/>
            <a:ext cx="7403123" cy="4804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14227" y="2626727"/>
            <a:ext cx="90301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1A253A"/>
                </a:solidFill>
              </a:rPr>
              <a:t>O </a:t>
            </a:r>
            <a:r>
              <a:rPr b="1" i="0" dirty="0" err="1">
                <a:solidFill>
                  <a:srgbClr val="1A253A"/>
                </a:solidFill>
              </a:rPr>
              <a:t>que</a:t>
            </a:r>
            <a:r>
              <a:rPr b="1" i="0" dirty="0">
                <a:solidFill>
                  <a:srgbClr val="1A253A"/>
                </a:solidFill>
              </a:rPr>
              <a:t> </a:t>
            </a:r>
            <a:r>
              <a:rPr b="1" i="0" dirty="0" err="1">
                <a:solidFill>
                  <a:srgbClr val="1A253A"/>
                </a:solidFill>
              </a:rPr>
              <a:t>os</a:t>
            </a:r>
            <a:r>
              <a:rPr b="1" i="0" dirty="0">
                <a:solidFill>
                  <a:srgbClr val="1A253A"/>
                </a:solidFill>
              </a:rPr>
              <a:t> dados </a:t>
            </a:r>
            <a:r>
              <a:rPr b="1" i="0" dirty="0" err="1">
                <a:solidFill>
                  <a:srgbClr val="1A253A"/>
                </a:solidFill>
              </a:rPr>
              <a:t>mostram</a:t>
            </a:r>
            <a:r>
              <a:rPr b="1" i="0" dirty="0">
                <a:solidFill>
                  <a:srgbClr val="1A253A"/>
                </a:solidFill>
              </a:rPr>
              <a:t>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4227" y="2661930"/>
            <a:ext cx="7023467" cy="33060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sz="2400" dirty="0"/>
          </a:p>
          <a:p>
            <a:pPr>
              <a:spcBef>
                <a:spcPts val="700"/>
              </a:spcBef>
            </a:pPr>
            <a:r>
              <a:rPr lang="pt-BR" sz="1600" dirty="0">
                <a:solidFill>
                  <a:srgbClr val="444444"/>
                </a:solidFill>
              </a:rPr>
              <a:t>⚠️</a:t>
            </a:r>
            <a:r>
              <a:rPr sz="1600" b="0" i="0" dirty="0">
                <a:solidFill>
                  <a:srgbClr val="444444"/>
                </a:solidFill>
              </a:rPr>
              <a:t>  Sem </a:t>
            </a:r>
            <a:r>
              <a:rPr sz="1600" b="0" i="0" dirty="0" err="1">
                <a:solidFill>
                  <a:srgbClr val="444444"/>
                </a:solidFill>
              </a:rPr>
              <a:t>atraso</a:t>
            </a:r>
            <a:r>
              <a:rPr sz="1600" b="0" i="0" dirty="0">
                <a:solidFill>
                  <a:srgbClr val="444444"/>
                </a:solidFill>
              </a:rPr>
              <a:t>: </a:t>
            </a:r>
            <a:r>
              <a:rPr lang="pt-BR" sz="1600" b="0" i="0" dirty="0">
                <a:solidFill>
                  <a:srgbClr val="444444"/>
                </a:solidFill>
              </a:rPr>
              <a:t>média avaliações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lang="pt-BR" sz="1600" b="0" i="0" dirty="0">
                <a:solidFill>
                  <a:srgbClr val="444444"/>
                </a:solidFill>
              </a:rPr>
              <a:t>6</a:t>
            </a:r>
            <a:r>
              <a:rPr sz="1600" b="0" i="0" dirty="0">
                <a:solidFill>
                  <a:srgbClr val="444444"/>
                </a:solidFill>
              </a:rPr>
              <a:t>,8</a:t>
            </a:r>
            <a:r>
              <a:rPr lang="pt-BR" sz="1600" b="0" i="0" dirty="0">
                <a:solidFill>
                  <a:srgbClr val="444444"/>
                </a:solidFill>
              </a:rPr>
              <a:t>6</a:t>
            </a:r>
            <a:r>
              <a:rPr sz="1600" b="0" i="0" dirty="0">
                <a:solidFill>
                  <a:srgbClr val="444444"/>
                </a:solidFill>
              </a:rPr>
              <a:t> — </a:t>
            </a:r>
            <a:r>
              <a:rPr sz="1600" b="0" i="0" dirty="0" err="1">
                <a:solidFill>
                  <a:srgbClr val="444444"/>
                </a:solidFill>
              </a:rPr>
              <a:t>melhor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grupo</a:t>
            </a:r>
            <a:endParaRPr sz="1600" b="0" i="0" dirty="0">
              <a:solidFill>
                <a:srgbClr val="444444"/>
              </a:solidFill>
            </a:endParaRPr>
          </a:p>
          <a:p>
            <a:pPr algn="l">
              <a:spcBef>
                <a:spcPts val="700"/>
              </a:spcBef>
            </a:pPr>
            <a:r>
              <a:rPr sz="1600" b="0" i="0" dirty="0">
                <a:solidFill>
                  <a:srgbClr val="444444"/>
                </a:solidFill>
              </a:rPr>
              <a:t>⚠️  1 a 2 </a:t>
            </a:r>
            <a:r>
              <a:rPr sz="1600" b="0" i="0" dirty="0" err="1">
                <a:solidFill>
                  <a:srgbClr val="444444"/>
                </a:solidFill>
              </a:rPr>
              <a:t>dias</a:t>
            </a:r>
            <a:r>
              <a:rPr sz="1600" b="0" i="0" dirty="0">
                <a:solidFill>
                  <a:srgbClr val="444444"/>
                </a:solidFill>
              </a:rPr>
              <a:t>: </a:t>
            </a:r>
            <a:r>
              <a:rPr sz="1600" b="0" i="0" dirty="0" err="1">
                <a:solidFill>
                  <a:srgbClr val="444444"/>
                </a:solidFill>
              </a:rPr>
              <a:t>queda</a:t>
            </a:r>
            <a:r>
              <a:rPr sz="1600" b="0" i="0" dirty="0">
                <a:solidFill>
                  <a:srgbClr val="444444"/>
                </a:solidFill>
              </a:rPr>
              <a:t> de 16% </a:t>
            </a:r>
            <a:r>
              <a:rPr lang="pt-BR" sz="1600" b="0" i="0" dirty="0">
                <a:solidFill>
                  <a:srgbClr val="444444"/>
                </a:solidFill>
              </a:rPr>
              <a:t>nas notas</a:t>
            </a:r>
            <a:endParaRPr sz="1600" b="0" i="0" dirty="0">
              <a:solidFill>
                <a:srgbClr val="444444"/>
              </a:solidFill>
            </a:endParaRPr>
          </a:p>
          <a:p>
            <a:pPr algn="l">
              <a:spcBef>
                <a:spcPts val="700"/>
              </a:spcBef>
            </a:pPr>
            <a:r>
              <a:rPr sz="1600" b="0" i="0" dirty="0">
                <a:solidFill>
                  <a:srgbClr val="444444"/>
                </a:solidFill>
              </a:rPr>
              <a:t>🔴  3 a 4 </a:t>
            </a:r>
            <a:r>
              <a:rPr sz="1600" b="0" i="0" dirty="0" err="1">
                <a:solidFill>
                  <a:srgbClr val="444444"/>
                </a:solidFill>
              </a:rPr>
              <a:t>dias</a:t>
            </a:r>
            <a:r>
              <a:rPr sz="1600" b="0" i="0" dirty="0">
                <a:solidFill>
                  <a:srgbClr val="444444"/>
                </a:solidFill>
              </a:rPr>
              <a:t>: </a:t>
            </a:r>
            <a:r>
              <a:rPr sz="1600" b="0" i="0" dirty="0" err="1">
                <a:solidFill>
                  <a:srgbClr val="444444"/>
                </a:solidFill>
              </a:rPr>
              <a:t>queda</a:t>
            </a:r>
            <a:r>
              <a:rPr sz="1600" b="0" i="0" dirty="0">
                <a:solidFill>
                  <a:srgbClr val="444444"/>
                </a:solidFill>
              </a:rPr>
              <a:t> de 38% — </a:t>
            </a:r>
            <a:r>
              <a:rPr sz="1600" b="0" i="0" dirty="0" err="1">
                <a:solidFill>
                  <a:srgbClr val="444444"/>
                </a:solidFill>
              </a:rPr>
              <a:t>ponto</a:t>
            </a:r>
            <a:r>
              <a:rPr sz="1600" b="0" i="0" dirty="0">
                <a:solidFill>
                  <a:srgbClr val="444444"/>
                </a:solidFill>
              </a:rPr>
              <a:t> de </a:t>
            </a:r>
            <a:r>
              <a:rPr sz="1600" b="0" i="0" dirty="0" err="1">
                <a:solidFill>
                  <a:srgbClr val="444444"/>
                </a:solidFill>
              </a:rPr>
              <a:t>ruptura</a:t>
            </a:r>
            <a:endParaRPr sz="1600" b="0" i="0" dirty="0">
              <a:solidFill>
                <a:srgbClr val="444444"/>
              </a:solidFill>
            </a:endParaRPr>
          </a:p>
          <a:p>
            <a:pPr algn="l">
              <a:spcBef>
                <a:spcPts val="700"/>
              </a:spcBef>
            </a:pPr>
            <a:r>
              <a:rPr sz="1600" b="0" i="0" dirty="0">
                <a:solidFill>
                  <a:srgbClr val="444444"/>
                </a:solidFill>
              </a:rPr>
              <a:t>🚨  5+ </a:t>
            </a:r>
            <a:r>
              <a:rPr sz="1600" b="0" i="0" dirty="0" err="1">
                <a:solidFill>
                  <a:srgbClr val="444444"/>
                </a:solidFill>
              </a:rPr>
              <a:t>dias</a:t>
            </a:r>
            <a:r>
              <a:rPr sz="1600" b="0" i="0" dirty="0">
                <a:solidFill>
                  <a:srgbClr val="444444"/>
                </a:solidFill>
              </a:rPr>
              <a:t>: NPS </a:t>
            </a:r>
            <a:r>
              <a:rPr sz="1600" b="0" i="0" dirty="0" err="1">
                <a:solidFill>
                  <a:srgbClr val="444444"/>
                </a:solidFill>
              </a:rPr>
              <a:t>próximo</a:t>
            </a:r>
            <a:r>
              <a:rPr sz="1600" b="0" i="0" dirty="0">
                <a:solidFill>
                  <a:srgbClr val="444444"/>
                </a:solidFill>
              </a:rPr>
              <a:t> de zero — </a:t>
            </a:r>
            <a:r>
              <a:rPr sz="1600" b="0" i="0" dirty="0" err="1">
                <a:solidFill>
                  <a:srgbClr val="444444"/>
                </a:solidFill>
              </a:rPr>
              <a:t>experiência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crítica</a:t>
            </a:r>
            <a:endParaRPr sz="1600" b="0" i="0" dirty="0">
              <a:solidFill>
                <a:srgbClr val="444444"/>
              </a:solidFill>
            </a:endParaRPr>
          </a:p>
          <a:p>
            <a:pPr algn="l">
              <a:spcBef>
                <a:spcPts val="700"/>
              </a:spcBef>
            </a:pPr>
            <a:endParaRPr sz="1600" b="0" i="0" dirty="0">
              <a:solidFill>
                <a:srgbClr val="444444"/>
              </a:solidFill>
            </a:endParaRPr>
          </a:p>
          <a:p>
            <a:pPr algn="l">
              <a:spcBef>
                <a:spcPts val="700"/>
              </a:spcBef>
            </a:pPr>
            <a:r>
              <a:rPr sz="1600" b="1" i="0" dirty="0" err="1">
                <a:solidFill>
                  <a:srgbClr val="1F4E79"/>
                </a:solidFill>
              </a:rPr>
              <a:t>Recomendação</a:t>
            </a:r>
            <a:r>
              <a:rPr sz="1600" b="1" i="0" dirty="0">
                <a:solidFill>
                  <a:srgbClr val="1F4E79"/>
                </a:solidFill>
              </a:rPr>
              <a:t>:</a:t>
            </a:r>
          </a:p>
          <a:p>
            <a:pPr algn="l">
              <a:spcBef>
                <a:spcPts val="700"/>
              </a:spcBef>
            </a:pPr>
            <a:r>
              <a:rPr sz="1600" b="0" i="0" dirty="0" err="1">
                <a:solidFill>
                  <a:srgbClr val="444444"/>
                </a:solidFill>
              </a:rPr>
              <a:t>Priorizar</a:t>
            </a:r>
            <a:r>
              <a:rPr sz="1600" b="0" i="0" dirty="0">
                <a:solidFill>
                  <a:srgbClr val="444444"/>
                </a:solidFill>
              </a:rPr>
              <a:t> SLA de </a:t>
            </a:r>
            <a:r>
              <a:rPr sz="1600" b="0" i="0" dirty="0" err="1">
                <a:solidFill>
                  <a:srgbClr val="444444"/>
                </a:solidFill>
              </a:rPr>
              <a:t>entrega</a:t>
            </a:r>
            <a:r>
              <a:rPr sz="1600" b="0" i="0" dirty="0">
                <a:solidFill>
                  <a:srgbClr val="444444"/>
                </a:solidFill>
              </a:rPr>
              <a:t>. </a:t>
            </a:r>
            <a:r>
              <a:rPr sz="1600" b="0" i="0" dirty="0" err="1">
                <a:solidFill>
                  <a:srgbClr val="444444"/>
                </a:solidFill>
              </a:rPr>
              <a:t>Monitorar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em</a:t>
            </a:r>
            <a:r>
              <a:rPr sz="1600" b="0" i="0" dirty="0">
                <a:solidFill>
                  <a:srgbClr val="444444"/>
                </a:solidFill>
              </a:rPr>
              <a:t> tempo real </a:t>
            </a:r>
            <a:r>
              <a:rPr sz="1600" b="0" i="0" dirty="0" err="1">
                <a:solidFill>
                  <a:srgbClr val="444444"/>
                </a:solidFill>
              </a:rPr>
              <a:t>os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pedidos</a:t>
            </a:r>
            <a:r>
              <a:rPr sz="1600" b="0" i="0" dirty="0">
                <a:solidFill>
                  <a:srgbClr val="444444"/>
                </a:solidFill>
              </a:rPr>
              <a:t> com </a:t>
            </a:r>
            <a:r>
              <a:rPr sz="1600" b="0" i="0" dirty="0" err="1">
                <a:solidFill>
                  <a:srgbClr val="444444"/>
                </a:solidFill>
              </a:rPr>
              <a:t>risco</a:t>
            </a:r>
            <a:r>
              <a:rPr sz="1600" b="0" i="0" dirty="0">
                <a:solidFill>
                  <a:srgbClr val="444444"/>
                </a:solidFill>
              </a:rPr>
              <a:t> de </a:t>
            </a:r>
            <a:r>
              <a:rPr sz="1600" b="0" i="0" dirty="0" err="1">
                <a:solidFill>
                  <a:srgbClr val="444444"/>
                </a:solidFill>
              </a:rPr>
              <a:t>atraso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acima</a:t>
            </a:r>
            <a:r>
              <a:rPr sz="1600" b="0" i="0" dirty="0">
                <a:solidFill>
                  <a:srgbClr val="444444"/>
                </a:solidFill>
              </a:rPr>
              <a:t> de 2 </a:t>
            </a:r>
            <a:r>
              <a:rPr sz="1600" b="0" i="0" dirty="0" err="1">
                <a:solidFill>
                  <a:srgbClr val="444444"/>
                </a:solidFill>
              </a:rPr>
              <a:t>dias</a:t>
            </a:r>
            <a:r>
              <a:rPr sz="1600" b="0" i="0" dirty="0">
                <a:solidFill>
                  <a:srgbClr val="444444"/>
                </a:solidFill>
              </a:rPr>
              <a:t> e </a:t>
            </a:r>
            <a:r>
              <a:rPr sz="1600" b="0" i="0" dirty="0" err="1">
                <a:solidFill>
                  <a:srgbClr val="444444"/>
                </a:solidFill>
              </a:rPr>
              <a:t>acionar</a:t>
            </a:r>
            <a:r>
              <a:rPr sz="1600" b="0" i="0" dirty="0">
                <a:solidFill>
                  <a:srgbClr val="444444"/>
                </a:solidFill>
              </a:rPr>
              <a:t> o </a:t>
            </a:r>
            <a:r>
              <a:rPr sz="1600" b="0" i="0" dirty="0" err="1">
                <a:solidFill>
                  <a:srgbClr val="444444"/>
                </a:solidFill>
              </a:rPr>
              <a:t>cliente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proativamente</a:t>
            </a:r>
            <a:r>
              <a:rPr sz="1600" b="0" i="0" dirty="0">
                <a:solidFill>
                  <a:srgbClr val="444444"/>
                </a:solidFill>
              </a:rPr>
              <a:t> antes do </a:t>
            </a:r>
            <a:r>
              <a:rPr sz="1600" b="0" i="0" dirty="0" err="1">
                <a:solidFill>
                  <a:srgbClr val="444444"/>
                </a:solidFill>
              </a:rPr>
              <a:t>problema</a:t>
            </a:r>
            <a:r>
              <a:rPr sz="1600" b="0" i="0" dirty="0">
                <a:solidFill>
                  <a:srgbClr val="444444"/>
                </a:solidFill>
              </a:rPr>
              <a:t> se </a:t>
            </a:r>
            <a:r>
              <a:rPr sz="1600" b="0" i="0" dirty="0" err="1">
                <a:solidFill>
                  <a:srgbClr val="444444"/>
                </a:solidFill>
              </a:rPr>
              <a:t>tornar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uma</a:t>
            </a:r>
            <a:r>
              <a:rPr sz="1600" b="0" i="0" dirty="0">
                <a:solidFill>
                  <a:srgbClr val="444444"/>
                </a:solidFill>
              </a:rPr>
              <a:t> </a:t>
            </a:r>
            <a:r>
              <a:rPr sz="1600" b="0" i="0" dirty="0" err="1">
                <a:solidFill>
                  <a:srgbClr val="444444"/>
                </a:solidFill>
              </a:rPr>
              <a:t>reclamação</a:t>
            </a:r>
            <a:r>
              <a:rPr sz="1600" b="0" i="0" dirty="0">
                <a:solidFill>
                  <a:srgbClr val="444444"/>
                </a:solidFill>
              </a:rPr>
              <a:t>.</a:t>
            </a:r>
          </a:p>
        </p:txBody>
      </p:sp>
      <p:graphicFrame>
        <p:nvGraphicFramePr>
          <p:cNvPr id="34" name="Gráfico 33">
            <a:extLst>
              <a:ext uri="{FF2B5EF4-FFF2-40B4-BE49-F238E27FC236}">
                <a16:creationId xmlns:a16="http://schemas.microsoft.com/office/drawing/2014/main" id="{454A1D48-3626-730A-1EF0-3849F4DE307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16216046"/>
              </p:ext>
            </p:extLst>
          </p:nvPr>
        </p:nvGraphicFramePr>
        <p:xfrm>
          <a:off x="151885" y="1819843"/>
          <a:ext cx="4328675" cy="45674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6" name="Retângulo: Cantos Arredondados 35">
            <a:extLst>
              <a:ext uri="{FF2B5EF4-FFF2-40B4-BE49-F238E27FC236}">
                <a16:creationId xmlns:a16="http://schemas.microsoft.com/office/drawing/2014/main" id="{4F352AEA-31D7-35CE-944D-AB8F49FA2E4D}"/>
              </a:ext>
            </a:extLst>
          </p:cNvPr>
          <p:cNvSpPr/>
          <p:nvPr/>
        </p:nvSpPr>
        <p:spPr>
          <a:xfrm>
            <a:off x="7443971" y="1548197"/>
            <a:ext cx="2130425" cy="915807"/>
          </a:xfrm>
          <a:prstGeom prst="roundRect">
            <a:avLst>
              <a:gd name="adj" fmla="val 11565"/>
            </a:avLst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TextBox 9">
            <a:extLst>
              <a:ext uri="{FF2B5EF4-FFF2-40B4-BE49-F238E27FC236}">
                <a16:creationId xmlns:a16="http://schemas.microsoft.com/office/drawing/2014/main" id="{B964818E-2643-9ADD-9D58-9B429AEBC5BA}"/>
              </a:ext>
            </a:extLst>
          </p:cNvPr>
          <p:cNvSpPr txBox="1"/>
          <p:nvPr/>
        </p:nvSpPr>
        <p:spPr>
          <a:xfrm>
            <a:off x="7034603" y="1551666"/>
            <a:ext cx="29260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000" b="1" dirty="0">
                <a:solidFill>
                  <a:srgbClr val="E67E22"/>
                </a:solidFill>
              </a:rPr>
              <a:t>4,38</a:t>
            </a:r>
            <a:endParaRPr sz="3000" b="1" i="0" dirty="0">
              <a:solidFill>
                <a:srgbClr val="E67E22"/>
              </a:solidFill>
            </a:endParaRPr>
          </a:p>
        </p:txBody>
      </p:sp>
      <p:sp>
        <p:nvSpPr>
          <p:cNvPr id="40" name="TextBox 10">
            <a:extLst>
              <a:ext uri="{FF2B5EF4-FFF2-40B4-BE49-F238E27FC236}">
                <a16:creationId xmlns:a16="http://schemas.microsoft.com/office/drawing/2014/main" id="{3C442F89-7C7C-2DD7-9F0E-390C5A462AAD}"/>
              </a:ext>
            </a:extLst>
          </p:cNvPr>
          <p:cNvSpPr txBox="1"/>
          <p:nvPr/>
        </p:nvSpPr>
        <p:spPr>
          <a:xfrm>
            <a:off x="7044032" y="2094672"/>
            <a:ext cx="2926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b="0" i="0"/>
            </a:lvl1pPr>
          </a:lstStyle>
          <a:p>
            <a:r>
              <a:rPr lang="pt-BR" dirty="0"/>
              <a:t>Média das avaliações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34290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 err="1">
                <a:solidFill>
                  <a:srgbClr val="FFFFFF"/>
                </a:solidFill>
              </a:rPr>
              <a:t>Fatores</a:t>
            </a:r>
            <a:r>
              <a:rPr sz="2800" b="1" i="0" dirty="0">
                <a:solidFill>
                  <a:srgbClr val="FFFFFF"/>
                </a:solidFill>
              </a:rPr>
              <a:t> #2 e #3: SAC e </a:t>
            </a:r>
            <a:r>
              <a:rPr sz="2800" b="1" i="0" dirty="0" err="1">
                <a:solidFill>
                  <a:srgbClr val="FFFFFF"/>
                </a:solidFill>
              </a:rPr>
              <a:t>Reclamaçõe</a:t>
            </a:r>
            <a:r>
              <a:rPr lang="pt-BR" sz="2800" b="1" i="0" dirty="0">
                <a:solidFill>
                  <a:srgbClr val="FFFFFF"/>
                </a:solidFill>
              </a:rPr>
              <a:t>s</a:t>
            </a:r>
            <a:endParaRPr sz="2800" b="1" i="0"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39496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4360" y="5709005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444444"/>
                </a:solidFill>
              </a:rPr>
              <a:t>Nº de </a:t>
            </a:r>
            <a:r>
              <a:rPr sz="1000" b="0" i="1" dirty="0" err="1">
                <a:solidFill>
                  <a:srgbClr val="444444"/>
                </a:solidFill>
              </a:rPr>
              <a:t>contatos</a:t>
            </a:r>
            <a:r>
              <a:rPr sz="1000" b="0" i="1" dirty="0">
                <a:solidFill>
                  <a:srgbClr val="444444"/>
                </a:solidFill>
              </a:rPr>
              <a:t> com SAC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080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C0392B"/>
                </a:solidFill>
              </a:rPr>
              <a:t>→  0 </a:t>
            </a:r>
            <a:r>
              <a:rPr sz="1100" b="1" i="0" dirty="0" err="1">
                <a:solidFill>
                  <a:srgbClr val="C0392B"/>
                </a:solidFill>
              </a:rPr>
              <a:t>contatos</a:t>
            </a:r>
            <a:r>
              <a:rPr sz="1100" b="1" i="0" dirty="0">
                <a:solidFill>
                  <a:srgbClr val="C0392B"/>
                </a:solidFill>
              </a:rPr>
              <a:t> = </a:t>
            </a:r>
            <a:r>
              <a:rPr sz="1100" b="1" i="0" dirty="0" err="1">
                <a:solidFill>
                  <a:srgbClr val="C0392B"/>
                </a:solidFill>
              </a:rPr>
              <a:t>maior</a:t>
            </a:r>
            <a:r>
              <a:rPr sz="1100" b="1" i="0" dirty="0">
                <a:solidFill>
                  <a:srgbClr val="C0392B"/>
                </a:solidFill>
              </a:rPr>
              <a:t> NPS  |  </a:t>
            </a:r>
            <a:r>
              <a:rPr sz="1100" b="1" i="0" dirty="0" err="1">
                <a:solidFill>
                  <a:srgbClr val="C0392B"/>
                </a:solidFill>
              </a:rPr>
              <a:t>cada</a:t>
            </a:r>
            <a:r>
              <a:rPr sz="1100" b="1" i="0" dirty="0">
                <a:solidFill>
                  <a:srgbClr val="C0392B"/>
                </a:solidFill>
              </a:rPr>
              <a:t> </a:t>
            </a:r>
            <a:r>
              <a:rPr sz="1100" b="1" i="0" dirty="0" err="1">
                <a:solidFill>
                  <a:srgbClr val="C0392B"/>
                </a:solidFill>
              </a:rPr>
              <a:t>contato</a:t>
            </a:r>
            <a:r>
              <a:rPr sz="1100" b="1" i="0" dirty="0">
                <a:solidFill>
                  <a:srgbClr val="C0392B"/>
                </a:solidFill>
              </a:rPr>
              <a:t> </a:t>
            </a:r>
            <a:r>
              <a:rPr sz="1100" b="1" i="0" dirty="0" err="1">
                <a:solidFill>
                  <a:srgbClr val="C0392B"/>
                </a:solidFill>
              </a:rPr>
              <a:t>adicional</a:t>
            </a:r>
            <a:r>
              <a:rPr sz="1100" b="1" i="0" dirty="0">
                <a:solidFill>
                  <a:srgbClr val="C0392B"/>
                </a:solidFill>
              </a:rPr>
              <a:t> </a:t>
            </a:r>
            <a:r>
              <a:rPr sz="1100" b="1" i="0" dirty="0" err="1">
                <a:solidFill>
                  <a:srgbClr val="C0392B"/>
                </a:solidFill>
              </a:rPr>
              <a:t>reduz</a:t>
            </a:r>
            <a:r>
              <a:rPr sz="1100" b="1" i="0" dirty="0">
                <a:solidFill>
                  <a:srgbClr val="C0392B"/>
                </a:solidFill>
              </a:rPr>
              <a:t> ~1,1 </a:t>
            </a:r>
            <a:r>
              <a:rPr sz="1100" b="1" i="0" dirty="0" err="1">
                <a:solidFill>
                  <a:srgbClr val="C0392B"/>
                </a:solidFill>
              </a:rPr>
              <a:t>ponto</a:t>
            </a:r>
            <a:endParaRPr sz="1100" b="1" i="0" dirty="0">
              <a:solidFill>
                <a:srgbClr val="C0392B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309360" y="1417320"/>
            <a:ext cx="548640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800" y="6080760"/>
            <a:ext cx="5303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C0392B"/>
                </a:solidFill>
              </a:rPr>
              <a:t>→  </a:t>
            </a:r>
            <a:r>
              <a:rPr sz="1100" b="1" i="0" dirty="0" err="1">
                <a:solidFill>
                  <a:srgbClr val="C0392B"/>
                </a:solidFill>
              </a:rPr>
              <a:t>Clientes</a:t>
            </a:r>
            <a:r>
              <a:rPr sz="1100" b="1" i="0" dirty="0">
                <a:solidFill>
                  <a:srgbClr val="C0392B"/>
                </a:solidFill>
              </a:rPr>
              <a:t> </a:t>
            </a:r>
            <a:r>
              <a:rPr sz="1100" b="1" i="0" dirty="0" err="1">
                <a:solidFill>
                  <a:srgbClr val="C0392B"/>
                </a:solidFill>
              </a:rPr>
              <a:t>sem</a:t>
            </a:r>
            <a:r>
              <a:rPr sz="1100" b="1" i="0" dirty="0">
                <a:solidFill>
                  <a:srgbClr val="C0392B"/>
                </a:solidFill>
              </a:rPr>
              <a:t> </a:t>
            </a:r>
            <a:r>
              <a:rPr sz="1100" b="1" i="0" dirty="0" err="1">
                <a:solidFill>
                  <a:srgbClr val="C0392B"/>
                </a:solidFill>
              </a:rPr>
              <a:t>reclamações</a:t>
            </a:r>
            <a:r>
              <a:rPr sz="1100" b="1" i="0" dirty="0">
                <a:solidFill>
                  <a:srgbClr val="C0392B"/>
                </a:solidFill>
              </a:rPr>
              <a:t> </a:t>
            </a:r>
            <a:r>
              <a:rPr sz="1100" b="1" i="0" dirty="0" err="1">
                <a:solidFill>
                  <a:srgbClr val="C0392B"/>
                </a:solidFill>
              </a:rPr>
              <a:t>têm</a:t>
            </a:r>
            <a:r>
              <a:rPr sz="1100" b="1" i="0" dirty="0">
                <a:solidFill>
                  <a:srgbClr val="C0392B"/>
                </a:solidFill>
              </a:rPr>
              <a:t> NPS 2,</a:t>
            </a:r>
            <a:r>
              <a:rPr lang="pt-BR" sz="1100" b="1" i="0" dirty="0">
                <a:solidFill>
                  <a:srgbClr val="C0392B"/>
                </a:solidFill>
              </a:rPr>
              <a:t>7</a:t>
            </a:r>
            <a:r>
              <a:rPr sz="1100" b="1" i="0" dirty="0">
                <a:solidFill>
                  <a:srgbClr val="C0392B"/>
                </a:solidFill>
              </a:rPr>
              <a:t>x </a:t>
            </a:r>
            <a:r>
              <a:rPr sz="1100" b="1" i="0" dirty="0" err="1">
                <a:solidFill>
                  <a:srgbClr val="C0392B"/>
                </a:solidFill>
              </a:rPr>
              <a:t>maior</a:t>
            </a:r>
            <a:r>
              <a:rPr sz="1100" b="1" i="0" dirty="0">
                <a:solidFill>
                  <a:srgbClr val="C0392B"/>
                </a:solidFill>
              </a:rPr>
              <a:t> do </a:t>
            </a:r>
            <a:r>
              <a:rPr sz="1100" b="1" i="0" dirty="0" err="1">
                <a:solidFill>
                  <a:srgbClr val="C0392B"/>
                </a:solidFill>
              </a:rPr>
              <a:t>que</a:t>
            </a:r>
            <a:r>
              <a:rPr sz="1100" b="1" i="0" dirty="0">
                <a:solidFill>
                  <a:srgbClr val="C0392B"/>
                </a:solidFill>
              </a:rPr>
              <a:t> </a:t>
            </a:r>
            <a:r>
              <a:rPr sz="1100" b="1" i="0" dirty="0" err="1">
                <a:solidFill>
                  <a:srgbClr val="C0392B"/>
                </a:solidFill>
              </a:rPr>
              <a:t>os</a:t>
            </a:r>
            <a:r>
              <a:rPr sz="1100" b="1" i="0" dirty="0">
                <a:solidFill>
                  <a:srgbClr val="C0392B"/>
                </a:solidFill>
              </a:rPr>
              <a:t> com 5+ </a:t>
            </a:r>
            <a:r>
              <a:rPr sz="1100" b="1" i="0" dirty="0" err="1">
                <a:solidFill>
                  <a:srgbClr val="C0392B"/>
                </a:solidFill>
              </a:rPr>
              <a:t>reclamações</a:t>
            </a:r>
            <a:endParaRPr sz="1100" b="1" i="0" dirty="0">
              <a:solidFill>
                <a:srgbClr val="C0392B"/>
              </a:solidFill>
            </a:endParaRPr>
          </a:p>
        </p:txBody>
      </p:sp>
      <p:graphicFrame>
        <p:nvGraphicFramePr>
          <p:cNvPr id="45" name="Gráfico 44">
            <a:extLst>
              <a:ext uri="{FF2B5EF4-FFF2-40B4-BE49-F238E27FC236}">
                <a16:creationId xmlns:a16="http://schemas.microsoft.com/office/drawing/2014/main" id="{E33A8A1E-EB8B-740C-C31C-C657455425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62250975"/>
              </p:ext>
            </p:extLst>
          </p:nvPr>
        </p:nvGraphicFramePr>
        <p:xfrm>
          <a:off x="621020" y="1965043"/>
          <a:ext cx="4328675" cy="38842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7" name="TextBox 6">
            <a:extLst>
              <a:ext uri="{FF2B5EF4-FFF2-40B4-BE49-F238E27FC236}">
                <a16:creationId xmlns:a16="http://schemas.microsoft.com/office/drawing/2014/main" id="{CBB8D205-9F98-334B-53E1-61ECA46F65C0}"/>
              </a:ext>
            </a:extLst>
          </p:cNvPr>
          <p:cNvSpPr txBox="1"/>
          <p:nvPr/>
        </p:nvSpPr>
        <p:spPr>
          <a:xfrm>
            <a:off x="393065" y="1549990"/>
            <a:ext cx="5548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b="1" i="0" dirty="0">
                <a:solidFill>
                  <a:srgbClr val="1A253A"/>
                </a:solidFill>
              </a:rPr>
              <a:t>Média das Notas</a:t>
            </a:r>
            <a:r>
              <a:rPr b="1" i="0" dirty="0">
                <a:solidFill>
                  <a:srgbClr val="1A253A"/>
                </a:solidFill>
              </a:rPr>
              <a:t> </a:t>
            </a:r>
            <a:r>
              <a:rPr b="1" i="0" dirty="0" err="1">
                <a:solidFill>
                  <a:srgbClr val="1A253A"/>
                </a:solidFill>
              </a:rPr>
              <a:t>por</a:t>
            </a:r>
            <a:r>
              <a:rPr b="1" i="0" dirty="0">
                <a:solidFill>
                  <a:srgbClr val="1A253A"/>
                </a:solidFill>
              </a:rPr>
              <a:t> </a:t>
            </a:r>
            <a:r>
              <a:rPr lang="pt-BR" b="1" i="0" dirty="0">
                <a:solidFill>
                  <a:srgbClr val="1A253A"/>
                </a:solidFill>
              </a:rPr>
              <a:t>Contatos com Atendimento (SAC)</a:t>
            </a:r>
            <a:endParaRPr b="1" i="0" dirty="0">
              <a:solidFill>
                <a:srgbClr val="1A253A"/>
              </a:solidFill>
            </a:endParaRPr>
          </a:p>
        </p:txBody>
      </p:sp>
      <p:sp>
        <p:nvSpPr>
          <p:cNvPr id="49" name="TextBox 6">
            <a:extLst>
              <a:ext uri="{FF2B5EF4-FFF2-40B4-BE49-F238E27FC236}">
                <a16:creationId xmlns:a16="http://schemas.microsoft.com/office/drawing/2014/main" id="{AE4356DE-4A8A-60CA-A5BD-58A67C6D1967}"/>
              </a:ext>
            </a:extLst>
          </p:cNvPr>
          <p:cNvSpPr txBox="1"/>
          <p:nvPr/>
        </p:nvSpPr>
        <p:spPr>
          <a:xfrm>
            <a:off x="6400800" y="1549990"/>
            <a:ext cx="5548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b="1" i="0" dirty="0">
                <a:solidFill>
                  <a:srgbClr val="1A253A"/>
                </a:solidFill>
              </a:rPr>
              <a:t>Média de Notas por Número de Reclamações</a:t>
            </a:r>
            <a:endParaRPr b="1" i="0" dirty="0">
              <a:solidFill>
                <a:srgbClr val="1A253A"/>
              </a:solidFill>
            </a:endParaRPr>
          </a:p>
        </p:txBody>
      </p:sp>
      <p:graphicFrame>
        <p:nvGraphicFramePr>
          <p:cNvPr id="51" name="Gráfico 50">
            <a:extLst>
              <a:ext uri="{FF2B5EF4-FFF2-40B4-BE49-F238E27FC236}">
                <a16:creationId xmlns:a16="http://schemas.microsoft.com/office/drawing/2014/main" id="{C4BC7200-5D91-8C4D-5EB0-27F9E943884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07203480"/>
              </p:ext>
            </p:extLst>
          </p:nvPr>
        </p:nvGraphicFramePr>
        <p:xfrm>
          <a:off x="6623236" y="1965043"/>
          <a:ext cx="4328675" cy="38842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3" name="TextBox 25">
            <a:extLst>
              <a:ext uri="{FF2B5EF4-FFF2-40B4-BE49-F238E27FC236}">
                <a16:creationId xmlns:a16="http://schemas.microsoft.com/office/drawing/2014/main" id="{32A29CAC-87E4-CA18-1B2B-01634D26AD30}"/>
              </a:ext>
            </a:extLst>
          </p:cNvPr>
          <p:cNvSpPr txBox="1"/>
          <p:nvPr/>
        </p:nvSpPr>
        <p:spPr>
          <a:xfrm>
            <a:off x="6693787" y="5709005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444444"/>
                </a:solidFill>
              </a:rPr>
              <a:t>Nº de </a:t>
            </a:r>
            <a:r>
              <a:rPr lang="pt-BR" sz="1000" b="0" i="1" dirty="0">
                <a:solidFill>
                  <a:srgbClr val="444444"/>
                </a:solidFill>
              </a:rPr>
              <a:t>reclamações</a:t>
            </a:r>
            <a:endParaRPr sz="1000" b="0" i="1" dirty="0">
              <a:solidFill>
                <a:srgbClr val="444444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64903-AB67-3691-82D7-5BC9911D5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789062-D420-9F9C-6A31-E6E242454578}"/>
              </a:ext>
            </a:extLst>
          </p:cNvPr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6069CF-FD99-7638-24EE-78D4CA54AFF1}"/>
              </a:ext>
            </a:extLst>
          </p:cNvPr>
          <p:cNvSpPr txBox="1"/>
          <p:nvPr/>
        </p:nvSpPr>
        <p:spPr>
          <a:xfrm>
            <a:off x="365760" y="34290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 err="1">
                <a:solidFill>
                  <a:srgbClr val="FFFFFF"/>
                </a:solidFill>
              </a:rPr>
              <a:t>Fatores</a:t>
            </a:r>
            <a:r>
              <a:rPr sz="2800" b="1" i="0" dirty="0">
                <a:solidFill>
                  <a:srgbClr val="FFFFFF"/>
                </a:solidFill>
              </a:rPr>
              <a:t> #2 e #3: SAC e </a:t>
            </a:r>
            <a:r>
              <a:rPr sz="2800" b="1" i="0" dirty="0" err="1">
                <a:solidFill>
                  <a:srgbClr val="FFFFFF"/>
                </a:solidFill>
              </a:rPr>
              <a:t>Reclamaçõe</a:t>
            </a:r>
            <a:r>
              <a:rPr lang="pt-BR" sz="2800" b="1" i="0" dirty="0">
                <a:solidFill>
                  <a:srgbClr val="FFFFFF"/>
                </a:solidFill>
              </a:rPr>
              <a:t>s</a:t>
            </a:r>
            <a:endParaRPr sz="2800" b="1" i="0" dirty="0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E2FE07-54EE-B047-9BFA-1E09365FAEF9}"/>
              </a:ext>
            </a:extLst>
          </p:cNvPr>
          <p:cNvSpPr/>
          <p:nvPr/>
        </p:nvSpPr>
        <p:spPr>
          <a:xfrm>
            <a:off x="541605" y="1417320"/>
            <a:ext cx="11040794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6">
            <a:extLst>
              <a:ext uri="{FF2B5EF4-FFF2-40B4-BE49-F238E27FC236}">
                <a16:creationId xmlns:a16="http://schemas.microsoft.com/office/drawing/2014/main" id="{9E2AC06B-4D84-A6DD-9834-5245311BEDAF}"/>
              </a:ext>
            </a:extLst>
          </p:cNvPr>
          <p:cNvSpPr txBox="1"/>
          <p:nvPr/>
        </p:nvSpPr>
        <p:spPr>
          <a:xfrm>
            <a:off x="568910" y="1549990"/>
            <a:ext cx="5548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b="1" i="0" dirty="0">
                <a:solidFill>
                  <a:srgbClr val="1A253A"/>
                </a:solidFill>
              </a:rPr>
              <a:t>Diferenças entre Promotores e Detratores (sem atraso)</a:t>
            </a:r>
            <a:endParaRPr b="1" i="0" dirty="0">
              <a:solidFill>
                <a:srgbClr val="1A253A"/>
              </a:solidFill>
            </a:endParaRPr>
          </a:p>
        </p:txBody>
      </p:sp>
      <p:sp>
        <p:nvSpPr>
          <p:cNvPr id="49" name="TextBox 6">
            <a:extLst>
              <a:ext uri="{FF2B5EF4-FFF2-40B4-BE49-F238E27FC236}">
                <a16:creationId xmlns:a16="http://schemas.microsoft.com/office/drawing/2014/main" id="{C1433318-94A1-B1FF-AF2F-ED722BAA876B}"/>
              </a:ext>
            </a:extLst>
          </p:cNvPr>
          <p:cNvSpPr txBox="1"/>
          <p:nvPr/>
        </p:nvSpPr>
        <p:spPr>
          <a:xfrm>
            <a:off x="3535028" y="-935303"/>
            <a:ext cx="5548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b="1" i="0" dirty="0">
                <a:solidFill>
                  <a:srgbClr val="1A253A"/>
                </a:solidFill>
              </a:rPr>
              <a:t>Média de Notas por Número de Reclamações</a:t>
            </a:r>
            <a:endParaRPr b="1" i="0" dirty="0">
              <a:solidFill>
                <a:srgbClr val="1A253A"/>
              </a:solidFill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2CEB2D84-327C-AD48-0675-E7D3C614A211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30EC396C-BA4E-9AE4-A9AC-B15D5629C7B3}"/>
              </a:ext>
            </a:extLst>
          </p:cNvPr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1B945766-1A2B-D009-4758-DB76D9AB70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524" t="12237" r="20364"/>
          <a:stretch>
            <a:fillRect/>
          </a:stretch>
        </p:blipFill>
        <p:spPr>
          <a:xfrm>
            <a:off x="838404" y="2438400"/>
            <a:ext cx="10447196" cy="3920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827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374903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</a:rPr>
              <a:t>Quem é o Promotor e Quem é o </a:t>
            </a:r>
            <a:r>
              <a:rPr sz="2800" b="1" i="0" dirty="0" err="1">
                <a:solidFill>
                  <a:srgbClr val="FFFFFF"/>
                </a:solidFill>
              </a:rPr>
              <a:t>Detrator</a:t>
            </a:r>
            <a:r>
              <a:rPr sz="2800" b="1" i="0" dirty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126309"/>
            <a:ext cx="3794760" cy="438912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" name="TextBox 8"/>
          <p:cNvSpPr txBox="1"/>
          <p:nvPr/>
        </p:nvSpPr>
        <p:spPr>
          <a:xfrm>
            <a:off x="411480" y="2190317"/>
            <a:ext cx="3749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FFFF"/>
                </a:solidFill>
              </a:rPr>
              <a:t>Variável Operacional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126309"/>
            <a:ext cx="2148840" cy="438912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4343400" y="2190317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</a:rPr>
              <a:t>Promotor  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26309"/>
            <a:ext cx="2148840" cy="43891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" name="TextBox 12"/>
          <p:cNvSpPr txBox="1"/>
          <p:nvPr/>
        </p:nvSpPr>
        <p:spPr>
          <a:xfrm>
            <a:off x="6629400" y="2190317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</a:rPr>
              <a:t>Neutro  ⚠️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69680" y="2126309"/>
            <a:ext cx="2148840" cy="43891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TextBox 14"/>
          <p:cNvSpPr txBox="1"/>
          <p:nvPr/>
        </p:nvSpPr>
        <p:spPr>
          <a:xfrm>
            <a:off x="8915400" y="2190317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</a:rPr>
              <a:t>Detrator  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565221"/>
            <a:ext cx="379476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TextBox 16"/>
          <p:cNvSpPr txBox="1"/>
          <p:nvPr/>
        </p:nvSpPr>
        <p:spPr>
          <a:xfrm>
            <a:off x="411480" y="2638373"/>
            <a:ext cx="3749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 err="1">
                <a:solidFill>
                  <a:srgbClr val="444444"/>
                </a:solidFill>
              </a:rPr>
              <a:t>Atraso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b="0" i="0" dirty="0" err="1">
                <a:solidFill>
                  <a:srgbClr val="444444"/>
                </a:solidFill>
              </a:rPr>
              <a:t>na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b="0" i="0" dirty="0" err="1">
                <a:solidFill>
                  <a:srgbClr val="444444"/>
                </a:solidFill>
              </a:rPr>
              <a:t>entrega</a:t>
            </a:r>
            <a:r>
              <a:rPr b="0" i="0" dirty="0">
                <a:solidFill>
                  <a:srgbClr val="444444"/>
                </a:solidFill>
              </a:rPr>
              <a:t> (</a:t>
            </a:r>
            <a:r>
              <a:rPr b="0" i="0" dirty="0" err="1">
                <a:solidFill>
                  <a:srgbClr val="444444"/>
                </a:solidFill>
              </a:rPr>
              <a:t>dias</a:t>
            </a:r>
            <a:r>
              <a:rPr b="0" i="0" dirty="0">
                <a:solidFill>
                  <a:srgbClr val="444444"/>
                </a:solidFill>
              </a:rPr>
              <a:t>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565221"/>
            <a:ext cx="214884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4343400" y="2638373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1E8B4C"/>
                </a:solidFill>
              </a:rPr>
              <a:t>0,72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2565221"/>
            <a:ext cx="214884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1" name="TextBox 20"/>
          <p:cNvSpPr txBox="1"/>
          <p:nvPr/>
        </p:nvSpPr>
        <p:spPr>
          <a:xfrm>
            <a:off x="6629400" y="2638373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39C12"/>
                </a:solidFill>
              </a:rPr>
              <a:t>1,05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9680" y="2565221"/>
            <a:ext cx="214884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8915400" y="2638373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dirty="0">
                <a:solidFill>
                  <a:srgbClr val="C0392B"/>
                </a:solidFill>
              </a:rPr>
              <a:t>2,41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004133"/>
            <a:ext cx="37947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5" name="TextBox 24"/>
          <p:cNvSpPr txBox="1"/>
          <p:nvPr/>
        </p:nvSpPr>
        <p:spPr>
          <a:xfrm>
            <a:off x="411480" y="3077285"/>
            <a:ext cx="3749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444444"/>
                </a:solidFill>
              </a:rPr>
              <a:t>Contatos com SAC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80" y="3004133"/>
            <a:ext cx="2148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TextBox 26"/>
          <p:cNvSpPr txBox="1"/>
          <p:nvPr/>
        </p:nvSpPr>
        <p:spPr>
          <a:xfrm>
            <a:off x="4343400" y="3077285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1E8B4C"/>
                </a:solidFill>
              </a:rPr>
              <a:t>0,67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3004133"/>
            <a:ext cx="2148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9" name="TextBox 28"/>
          <p:cNvSpPr txBox="1"/>
          <p:nvPr/>
        </p:nvSpPr>
        <p:spPr>
          <a:xfrm>
            <a:off x="6629400" y="3077285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39C12"/>
                </a:solidFill>
              </a:rPr>
              <a:t>1,01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69680" y="3004133"/>
            <a:ext cx="2148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TextBox 30"/>
          <p:cNvSpPr txBox="1"/>
          <p:nvPr/>
        </p:nvSpPr>
        <p:spPr>
          <a:xfrm>
            <a:off x="8915400" y="3077285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C0392B"/>
                </a:solidFill>
              </a:rPr>
              <a:t>1,63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443045"/>
            <a:ext cx="379476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3" name="TextBox 32"/>
          <p:cNvSpPr txBox="1"/>
          <p:nvPr/>
        </p:nvSpPr>
        <p:spPr>
          <a:xfrm>
            <a:off x="411480" y="3516197"/>
            <a:ext cx="3749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 err="1">
                <a:solidFill>
                  <a:srgbClr val="444444"/>
                </a:solidFill>
              </a:rPr>
              <a:t>Reclamações</a:t>
            </a:r>
            <a:r>
              <a:rPr b="0" i="0" dirty="0">
                <a:solidFill>
                  <a:srgbClr val="444444"/>
                </a:solidFill>
              </a:rPr>
              <a:t> </a:t>
            </a:r>
            <a:r>
              <a:rPr b="0" i="0" dirty="0" err="1">
                <a:solidFill>
                  <a:srgbClr val="444444"/>
                </a:solidFill>
              </a:rPr>
              <a:t>registradas</a:t>
            </a:r>
            <a:endParaRPr b="0" i="0" dirty="0">
              <a:solidFill>
                <a:srgbClr val="444444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4297680" y="3443045"/>
            <a:ext cx="214884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TextBox 34"/>
          <p:cNvSpPr txBox="1"/>
          <p:nvPr/>
        </p:nvSpPr>
        <p:spPr>
          <a:xfrm>
            <a:off x="4343400" y="3516197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1E8B4C"/>
                </a:solidFill>
              </a:rPr>
              <a:t>2,27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0" y="3443045"/>
            <a:ext cx="214884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7" name="TextBox 36"/>
          <p:cNvSpPr txBox="1"/>
          <p:nvPr/>
        </p:nvSpPr>
        <p:spPr>
          <a:xfrm>
            <a:off x="6629400" y="3516197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39C12"/>
                </a:solidFill>
              </a:rPr>
              <a:t>2,69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869680" y="3443045"/>
            <a:ext cx="214884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9" name="TextBox 38"/>
          <p:cNvSpPr txBox="1"/>
          <p:nvPr/>
        </p:nvSpPr>
        <p:spPr>
          <a:xfrm>
            <a:off x="8915400" y="3516197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C0392B"/>
                </a:solidFill>
              </a:rPr>
              <a:t>4,44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881957"/>
            <a:ext cx="37947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1" name="TextBox 40"/>
          <p:cNvSpPr txBox="1"/>
          <p:nvPr/>
        </p:nvSpPr>
        <p:spPr>
          <a:xfrm>
            <a:off x="411480" y="3955109"/>
            <a:ext cx="3749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444444"/>
                </a:solidFill>
              </a:rPr>
              <a:t>Tempo de </a:t>
            </a:r>
            <a:r>
              <a:rPr b="0" i="0" dirty="0" err="1">
                <a:solidFill>
                  <a:srgbClr val="444444"/>
                </a:solidFill>
              </a:rPr>
              <a:t>resolução</a:t>
            </a:r>
            <a:r>
              <a:rPr b="0" i="0" dirty="0">
                <a:solidFill>
                  <a:srgbClr val="444444"/>
                </a:solidFill>
              </a:rPr>
              <a:t> (</a:t>
            </a:r>
            <a:r>
              <a:rPr b="0" i="0" dirty="0" err="1">
                <a:solidFill>
                  <a:srgbClr val="444444"/>
                </a:solidFill>
              </a:rPr>
              <a:t>dias</a:t>
            </a:r>
            <a:r>
              <a:rPr b="0" i="0" dirty="0">
                <a:solidFill>
                  <a:srgbClr val="444444"/>
                </a:solidFill>
              </a:rPr>
              <a:t>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7680" y="3881957"/>
            <a:ext cx="2148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3" name="TextBox 42"/>
          <p:cNvSpPr txBox="1"/>
          <p:nvPr/>
        </p:nvSpPr>
        <p:spPr>
          <a:xfrm>
            <a:off x="4343400" y="3955109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1E8B4C"/>
                </a:solidFill>
              </a:rPr>
              <a:t>3,70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0" y="3881957"/>
            <a:ext cx="2148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5" name="TextBox 44"/>
          <p:cNvSpPr txBox="1"/>
          <p:nvPr/>
        </p:nvSpPr>
        <p:spPr>
          <a:xfrm>
            <a:off x="6629400" y="3955109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39C12"/>
                </a:solidFill>
              </a:rPr>
              <a:t>4,62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869680" y="3881957"/>
            <a:ext cx="2148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7" name="TextBox 46"/>
          <p:cNvSpPr txBox="1"/>
          <p:nvPr/>
        </p:nvSpPr>
        <p:spPr>
          <a:xfrm>
            <a:off x="8915400" y="3955109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C0392B"/>
                </a:solidFill>
              </a:rPr>
              <a:t>5,69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320869"/>
            <a:ext cx="379476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9" name="TextBox 48"/>
          <p:cNvSpPr txBox="1"/>
          <p:nvPr/>
        </p:nvSpPr>
        <p:spPr>
          <a:xfrm>
            <a:off x="411480" y="4394021"/>
            <a:ext cx="3749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444444"/>
                </a:solidFill>
              </a:rPr>
              <a:t>Tempo de </a:t>
            </a:r>
            <a:r>
              <a:rPr b="0" i="0" dirty="0" err="1">
                <a:solidFill>
                  <a:srgbClr val="444444"/>
                </a:solidFill>
              </a:rPr>
              <a:t>entrega</a:t>
            </a:r>
            <a:r>
              <a:rPr b="0" i="0" dirty="0">
                <a:solidFill>
                  <a:srgbClr val="444444"/>
                </a:solidFill>
              </a:rPr>
              <a:t> (</a:t>
            </a:r>
            <a:r>
              <a:rPr b="0" i="0" dirty="0" err="1">
                <a:solidFill>
                  <a:srgbClr val="444444"/>
                </a:solidFill>
              </a:rPr>
              <a:t>dias</a:t>
            </a:r>
            <a:r>
              <a:rPr b="0" i="0" dirty="0">
                <a:solidFill>
                  <a:srgbClr val="444444"/>
                </a:solidFill>
              </a:rPr>
              <a:t>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0" y="4320869"/>
            <a:ext cx="214884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1" name="TextBox 50"/>
          <p:cNvSpPr txBox="1"/>
          <p:nvPr/>
        </p:nvSpPr>
        <p:spPr>
          <a:xfrm>
            <a:off x="4343400" y="4394021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b="0" i="0">
                <a:solidFill>
                  <a:srgbClr val="444444"/>
                </a:solidFill>
              </a:defRPr>
            </a:lvl1pPr>
          </a:lstStyle>
          <a:p>
            <a:r>
              <a:rPr dirty="0"/>
              <a:t>7,94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0" y="4320869"/>
            <a:ext cx="214884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3" name="TextBox 52"/>
          <p:cNvSpPr txBox="1"/>
          <p:nvPr/>
        </p:nvSpPr>
        <p:spPr>
          <a:xfrm>
            <a:off x="6629400" y="4394021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444444"/>
                </a:solidFill>
              </a:rPr>
              <a:t>8,26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869680" y="4320869"/>
            <a:ext cx="2148840" cy="43891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5" name="TextBox 54"/>
          <p:cNvSpPr txBox="1"/>
          <p:nvPr/>
        </p:nvSpPr>
        <p:spPr>
          <a:xfrm>
            <a:off x="8915400" y="4394021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444444"/>
                </a:solidFill>
              </a:rPr>
              <a:t>7,99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759781"/>
            <a:ext cx="37947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7" name="TextBox 56"/>
          <p:cNvSpPr txBox="1"/>
          <p:nvPr/>
        </p:nvSpPr>
        <p:spPr>
          <a:xfrm>
            <a:off x="411480" y="4832933"/>
            <a:ext cx="3749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 err="1">
                <a:solidFill>
                  <a:srgbClr val="444444"/>
                </a:solidFill>
              </a:rPr>
              <a:t>Tentativas</a:t>
            </a:r>
            <a:r>
              <a:rPr b="0" i="0" dirty="0">
                <a:solidFill>
                  <a:srgbClr val="444444"/>
                </a:solidFill>
              </a:rPr>
              <a:t> de </a:t>
            </a:r>
            <a:r>
              <a:rPr b="0" i="0" dirty="0" err="1">
                <a:solidFill>
                  <a:srgbClr val="444444"/>
                </a:solidFill>
              </a:rPr>
              <a:t>entrega</a:t>
            </a:r>
            <a:endParaRPr b="0" i="0" dirty="0">
              <a:solidFill>
                <a:srgbClr val="444444"/>
              </a:solidFill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4297680" y="4759781"/>
            <a:ext cx="2148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9" name="TextBox 58"/>
          <p:cNvSpPr txBox="1"/>
          <p:nvPr/>
        </p:nvSpPr>
        <p:spPr>
          <a:xfrm>
            <a:off x="4343400" y="4832933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dirty="0">
                <a:solidFill>
                  <a:srgbClr val="444444"/>
                </a:solidFill>
              </a:rPr>
              <a:t>2,15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0" y="4759781"/>
            <a:ext cx="2148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1" name="TextBox 60"/>
          <p:cNvSpPr txBox="1"/>
          <p:nvPr/>
        </p:nvSpPr>
        <p:spPr>
          <a:xfrm>
            <a:off x="6629400" y="4832933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444444"/>
                </a:solidFill>
              </a:rPr>
              <a:t>2,01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869680" y="4759781"/>
            <a:ext cx="2148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3" name="TextBox 62"/>
          <p:cNvSpPr txBox="1"/>
          <p:nvPr/>
        </p:nvSpPr>
        <p:spPr>
          <a:xfrm>
            <a:off x="8915400" y="4832933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dirty="0">
                <a:solidFill>
                  <a:srgbClr val="444444"/>
                </a:solidFill>
              </a:rPr>
              <a:t>2,00</a:t>
            </a:r>
          </a:p>
        </p:txBody>
      </p:sp>
      <p:sp>
        <p:nvSpPr>
          <p:cNvPr id="68" name="TextBox 6">
            <a:extLst>
              <a:ext uri="{FF2B5EF4-FFF2-40B4-BE49-F238E27FC236}">
                <a16:creationId xmlns:a16="http://schemas.microsoft.com/office/drawing/2014/main" id="{F2DFB303-60E0-95EA-3D02-95768DB6E40A}"/>
              </a:ext>
            </a:extLst>
          </p:cNvPr>
          <p:cNvSpPr txBox="1"/>
          <p:nvPr/>
        </p:nvSpPr>
        <p:spPr>
          <a:xfrm>
            <a:off x="365760" y="1473449"/>
            <a:ext cx="5548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b="1" dirty="0">
                <a:solidFill>
                  <a:srgbClr val="1A253A"/>
                </a:solidFill>
              </a:rPr>
              <a:t>Perfil Médio por Categoria do NPS</a:t>
            </a:r>
            <a:endParaRPr b="1" i="0" dirty="0">
              <a:solidFill>
                <a:srgbClr val="1A253A"/>
              </a:solidFill>
            </a:endParaRPr>
          </a:p>
        </p:txBody>
      </p:sp>
      <p:sp>
        <p:nvSpPr>
          <p:cNvPr id="102" name="TextBox 58">
            <a:extLst>
              <a:ext uri="{FF2B5EF4-FFF2-40B4-BE49-F238E27FC236}">
                <a16:creationId xmlns:a16="http://schemas.microsoft.com/office/drawing/2014/main" id="{13F2D793-D37E-1FD6-350A-61C24614F424}"/>
              </a:ext>
            </a:extLst>
          </p:cNvPr>
          <p:cNvSpPr txBox="1"/>
          <p:nvPr/>
        </p:nvSpPr>
        <p:spPr>
          <a:xfrm>
            <a:off x="4343400" y="1776499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0" i="0" dirty="0">
                <a:solidFill>
                  <a:srgbClr val="444444"/>
                </a:solidFill>
              </a:rPr>
              <a:t>110</a:t>
            </a:r>
            <a:endParaRPr b="0" i="0" dirty="0">
              <a:solidFill>
                <a:srgbClr val="444444"/>
              </a:solidFill>
            </a:endParaRPr>
          </a:p>
        </p:txBody>
      </p:sp>
      <p:sp>
        <p:nvSpPr>
          <p:cNvPr id="104" name="TextBox 60">
            <a:extLst>
              <a:ext uri="{FF2B5EF4-FFF2-40B4-BE49-F238E27FC236}">
                <a16:creationId xmlns:a16="http://schemas.microsoft.com/office/drawing/2014/main" id="{89067FF3-D07B-969D-9604-07DD69937247}"/>
              </a:ext>
            </a:extLst>
          </p:cNvPr>
          <p:cNvSpPr txBox="1"/>
          <p:nvPr/>
        </p:nvSpPr>
        <p:spPr>
          <a:xfrm>
            <a:off x="6629400" y="1776499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0" i="0" dirty="0">
                <a:solidFill>
                  <a:srgbClr val="444444"/>
                </a:solidFill>
              </a:rPr>
              <a:t>281</a:t>
            </a:r>
            <a:endParaRPr b="0" i="0" dirty="0">
              <a:solidFill>
                <a:srgbClr val="444444"/>
              </a:solidFill>
            </a:endParaRPr>
          </a:p>
        </p:txBody>
      </p:sp>
      <p:sp>
        <p:nvSpPr>
          <p:cNvPr id="106" name="TextBox 62">
            <a:extLst>
              <a:ext uri="{FF2B5EF4-FFF2-40B4-BE49-F238E27FC236}">
                <a16:creationId xmlns:a16="http://schemas.microsoft.com/office/drawing/2014/main" id="{D9B9F899-C4B8-D87C-6890-68423B799DB9}"/>
              </a:ext>
            </a:extLst>
          </p:cNvPr>
          <p:cNvSpPr txBox="1"/>
          <p:nvPr/>
        </p:nvSpPr>
        <p:spPr>
          <a:xfrm>
            <a:off x="8915400" y="1776499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0" i="0" dirty="0">
                <a:solidFill>
                  <a:srgbClr val="444444"/>
                </a:solidFill>
              </a:rPr>
              <a:t>2.109</a:t>
            </a:r>
            <a:endParaRPr b="0" i="0" dirty="0">
              <a:solidFill>
                <a:srgbClr val="444444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4A60D-1FF9-1E00-C3A9-E23E7BC5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0B477C6-D11A-E6BE-5CF0-1E97EA07374E}"/>
              </a:ext>
            </a:extLst>
          </p:cNvPr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A96A97-7D18-32D8-5A45-4839E99CBC36}"/>
              </a:ext>
            </a:extLst>
          </p:cNvPr>
          <p:cNvSpPr txBox="1"/>
          <p:nvPr/>
        </p:nvSpPr>
        <p:spPr>
          <a:xfrm>
            <a:off x="365760" y="374903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800" b="1" i="0" dirty="0">
                <a:solidFill>
                  <a:srgbClr val="FFFFFF"/>
                </a:solidFill>
              </a:rPr>
              <a:t>NPS Ativo</a:t>
            </a:r>
            <a:endParaRPr sz="2800" b="1" i="0" dirty="0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319792-0F29-B255-8123-DD78EC247586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3DE342-38C9-4D51-6B2C-732E134F62DA}"/>
              </a:ext>
            </a:extLst>
          </p:cNvPr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sp>
        <p:nvSpPr>
          <p:cNvPr id="68" name="TextBox 6">
            <a:extLst>
              <a:ext uri="{FF2B5EF4-FFF2-40B4-BE49-F238E27FC236}">
                <a16:creationId xmlns:a16="http://schemas.microsoft.com/office/drawing/2014/main" id="{DD0178B3-2B82-A179-0548-A98CDEE2D963}"/>
              </a:ext>
            </a:extLst>
          </p:cNvPr>
          <p:cNvSpPr txBox="1"/>
          <p:nvPr/>
        </p:nvSpPr>
        <p:spPr>
          <a:xfrm>
            <a:off x="365760" y="1473449"/>
            <a:ext cx="5548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b="1" dirty="0">
                <a:solidFill>
                  <a:srgbClr val="1A253A"/>
                </a:solidFill>
              </a:rPr>
              <a:t>Modelo para Atuação Ativa</a:t>
            </a:r>
            <a:endParaRPr b="1" i="0" dirty="0">
              <a:solidFill>
                <a:srgbClr val="1A253A"/>
              </a:solidFill>
            </a:endParaRPr>
          </a:p>
        </p:txBody>
      </p:sp>
      <p:sp>
        <p:nvSpPr>
          <p:cNvPr id="10" name="Rectangle 10">
            <a:extLst>
              <a:ext uri="{FF2B5EF4-FFF2-40B4-BE49-F238E27FC236}">
                <a16:creationId xmlns:a16="http://schemas.microsoft.com/office/drawing/2014/main" id="{E9858CB5-8E29-07A6-53CB-E6930FE290F0}"/>
              </a:ext>
            </a:extLst>
          </p:cNvPr>
          <p:cNvSpPr/>
          <p:nvPr/>
        </p:nvSpPr>
        <p:spPr>
          <a:xfrm>
            <a:off x="365760" y="1984977"/>
            <a:ext cx="11430000" cy="42166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140A7B52-BC11-39B2-8E0B-7A415CD5C4DD}"/>
              </a:ext>
            </a:extLst>
          </p:cNvPr>
          <p:cNvSpPr txBox="1"/>
          <p:nvPr/>
        </p:nvSpPr>
        <p:spPr>
          <a:xfrm>
            <a:off x="526335" y="2172392"/>
            <a:ext cx="11136154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lang="pt-BR" sz="1600" dirty="0">
                <a:solidFill>
                  <a:srgbClr val="444444"/>
                </a:solidFill>
              </a:rPr>
              <a:t>▶  </a:t>
            </a:r>
            <a:r>
              <a:rPr lang="pt-BR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Prevê a probabilidade de um cliente ser Promotor logo após a entrega, usando apenas dados operacionais do pedido (atraso, contatos com SAC, reclamações etc.).</a:t>
            </a:r>
          </a:p>
          <a:p>
            <a:pPr>
              <a:spcBef>
                <a:spcPts val="800"/>
              </a:spcBef>
            </a:pPr>
            <a:endParaRPr lang="pt-BR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800"/>
              </a:spcBef>
            </a:pPr>
            <a:r>
              <a:rPr lang="pt-BR" sz="1600" dirty="0">
                <a:solidFill>
                  <a:srgbClr val="444444"/>
                </a:solidFill>
              </a:rPr>
              <a:t>▶  </a:t>
            </a:r>
            <a:r>
              <a:rPr lang="pt-BR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Random Forest ("Floresta de Decisão"):</a:t>
            </a:r>
          </a:p>
          <a:p>
            <a:pPr>
              <a:spcBef>
                <a:spcPts val="800"/>
              </a:spcBef>
            </a:pPr>
            <a:r>
              <a:rPr lang="pt-BR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Oferece o melhor equilíbrio entre performance, interpretabilidade e facilidade de uso em produção, principalmente para o tamanho de dados disponível.</a:t>
            </a:r>
          </a:p>
          <a:p>
            <a:pPr>
              <a:spcBef>
                <a:spcPts val="800"/>
              </a:spcBef>
            </a:pPr>
            <a:endParaRPr lang="pt-BR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800"/>
              </a:spcBef>
            </a:pPr>
            <a:r>
              <a:rPr lang="pt-BR" sz="1600" dirty="0">
                <a:solidFill>
                  <a:srgbClr val="444444"/>
                </a:solidFill>
              </a:rPr>
              <a:t>▶  </a:t>
            </a:r>
            <a:r>
              <a:rPr lang="pt-BR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Acurácia de 92% geral, mas de 55% para promotores (dada a amostra baixa) .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pt-BR" sz="1600" b="0" i="0" dirty="0">
              <a:solidFill>
                <a:srgbClr val="4444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46667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69863-6469-256E-8448-6A9477CBA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3C0A0F1-582F-7984-CE1D-98F9620C1B01}"/>
              </a:ext>
            </a:extLst>
          </p:cNvPr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D5B4DF-17FE-9E0E-998C-D9E54B3AEF8F}"/>
              </a:ext>
            </a:extLst>
          </p:cNvPr>
          <p:cNvSpPr txBox="1"/>
          <p:nvPr/>
        </p:nvSpPr>
        <p:spPr>
          <a:xfrm>
            <a:off x="365760" y="374903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800" b="1" i="0" dirty="0">
                <a:solidFill>
                  <a:srgbClr val="FFFFFF"/>
                </a:solidFill>
              </a:rPr>
              <a:t>NPS Ativo</a:t>
            </a:r>
            <a:endParaRPr sz="2800" b="1" i="0" dirty="0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5358F19-1849-5808-92E8-9885FF2F76D9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4323CE-EF73-ADFC-0A6C-8A58BC3238A9}"/>
              </a:ext>
            </a:extLst>
          </p:cNvPr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sp>
        <p:nvSpPr>
          <p:cNvPr id="68" name="TextBox 6">
            <a:extLst>
              <a:ext uri="{FF2B5EF4-FFF2-40B4-BE49-F238E27FC236}">
                <a16:creationId xmlns:a16="http://schemas.microsoft.com/office/drawing/2014/main" id="{66735B00-5D45-E50C-1F29-683168708840}"/>
              </a:ext>
            </a:extLst>
          </p:cNvPr>
          <p:cNvSpPr txBox="1"/>
          <p:nvPr/>
        </p:nvSpPr>
        <p:spPr>
          <a:xfrm>
            <a:off x="365760" y="1473449"/>
            <a:ext cx="5548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b="1" dirty="0">
                <a:solidFill>
                  <a:srgbClr val="1A253A"/>
                </a:solidFill>
              </a:rPr>
              <a:t>Modelo para Atuação Ativa</a:t>
            </a:r>
            <a:endParaRPr b="1" i="0" dirty="0">
              <a:solidFill>
                <a:srgbClr val="1A253A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A8776CA-9C3B-9A94-28AA-36B069772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40" y="1870213"/>
            <a:ext cx="11721639" cy="4388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9351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365760" y="35561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 err="1">
                <a:solidFill>
                  <a:srgbClr val="FFFFFF"/>
                </a:solidFill>
              </a:rPr>
              <a:t>Recomendações</a:t>
            </a:r>
            <a:r>
              <a:rPr sz="2800" b="1" i="0" dirty="0">
                <a:solidFill>
                  <a:srgbClr val="FFFFFF"/>
                </a:solidFill>
              </a:rPr>
              <a:t>: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3749039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566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FFFFFF"/>
                </a:solidFill>
              </a:rPr>
              <a:t>🚚  </a:t>
            </a:r>
            <a:r>
              <a:rPr b="1" i="0" dirty="0" err="1">
                <a:solidFill>
                  <a:srgbClr val="FFFFFF"/>
                </a:solidFill>
              </a:rPr>
              <a:t>Logística</a:t>
            </a:r>
            <a:endParaRPr b="1" i="0" dirty="0">
              <a:solidFill>
                <a:srgbClr val="FFFFFF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938528"/>
            <a:ext cx="3749039" cy="27432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" y="1915936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444444"/>
                </a:solidFill>
              </a:rPr>
              <a:t>Prioridade</a:t>
            </a:r>
            <a:r>
              <a:rPr sz="1400" b="1" i="0" dirty="0">
                <a:solidFill>
                  <a:srgbClr val="444444"/>
                </a:solidFill>
              </a:rPr>
              <a:t> ALTA</a:t>
            </a:r>
            <a:r>
              <a:rPr lang="pt-BR" sz="1400" b="1" i="0" dirty="0">
                <a:solidFill>
                  <a:srgbClr val="444444"/>
                </a:solidFill>
              </a:rPr>
              <a:t> - Crítico</a:t>
            </a:r>
            <a:endParaRPr sz="1400" b="1" i="0" dirty="0">
              <a:solidFill>
                <a:srgbClr val="444444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65760" y="2231136"/>
            <a:ext cx="3749039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417320"/>
            <a:ext cx="3749039" cy="5029200"/>
          </a:xfrm>
          <a:prstGeom prst="rect">
            <a:avLst/>
          </a:prstGeom>
          <a:noFill/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" y="2304288"/>
            <a:ext cx="3520440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300" b="0" i="0" dirty="0">
                <a:solidFill>
                  <a:srgbClr val="444444"/>
                </a:solidFill>
              </a:rPr>
              <a:t>▶  </a:t>
            </a:r>
            <a:r>
              <a:rPr sz="1300" b="0" i="0" dirty="0" err="1">
                <a:solidFill>
                  <a:srgbClr val="444444"/>
                </a:solidFill>
              </a:rPr>
              <a:t>Monitorar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pedidos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em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risco</a:t>
            </a:r>
            <a:r>
              <a:rPr sz="1300" b="0" i="0" dirty="0">
                <a:solidFill>
                  <a:srgbClr val="444444"/>
                </a:solidFill>
              </a:rPr>
              <a:t> de </a:t>
            </a:r>
            <a:r>
              <a:rPr sz="1300" b="0" i="0" dirty="0" err="1">
                <a:solidFill>
                  <a:srgbClr val="444444"/>
                </a:solidFill>
              </a:rPr>
              <a:t>atraso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em</a:t>
            </a:r>
            <a:r>
              <a:rPr sz="1300" b="0" i="0" dirty="0">
                <a:solidFill>
                  <a:srgbClr val="444444"/>
                </a:solidFill>
              </a:rPr>
              <a:t> tempo real</a:t>
            </a:r>
            <a:r>
              <a:rPr lang="pt-BR" sz="1300" dirty="0">
                <a:solidFill>
                  <a:srgbClr val="444444"/>
                </a:solidFill>
              </a:rPr>
              <a:t>.</a:t>
            </a:r>
            <a:endParaRPr sz="1300" b="0" i="0" dirty="0">
              <a:solidFill>
                <a:srgbClr val="444444"/>
              </a:solidFill>
            </a:endParaRPr>
          </a:p>
          <a:p>
            <a:pPr algn="l">
              <a:spcBef>
                <a:spcPts val="1000"/>
              </a:spcBef>
            </a:pPr>
            <a:r>
              <a:rPr sz="1300" b="0" i="0" dirty="0">
                <a:solidFill>
                  <a:srgbClr val="444444"/>
                </a:solidFill>
              </a:rPr>
              <a:t>▶  </a:t>
            </a:r>
            <a:r>
              <a:rPr sz="1300" b="0" i="0" dirty="0" err="1">
                <a:solidFill>
                  <a:srgbClr val="444444"/>
                </a:solidFill>
              </a:rPr>
              <a:t>Acionar</a:t>
            </a:r>
            <a:r>
              <a:rPr sz="1300" b="0" i="0" dirty="0">
                <a:solidFill>
                  <a:srgbClr val="444444"/>
                </a:solidFill>
              </a:rPr>
              <a:t> o </a:t>
            </a:r>
            <a:r>
              <a:rPr sz="1300" b="0" i="0" dirty="0" err="1">
                <a:solidFill>
                  <a:srgbClr val="444444"/>
                </a:solidFill>
              </a:rPr>
              <a:t>cliente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proativamente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lang="pt-BR" sz="1300" b="0" i="0" dirty="0">
                <a:solidFill>
                  <a:srgbClr val="444444"/>
                </a:solidFill>
              </a:rPr>
              <a:t>assim que o pedido passa a atrasar.</a:t>
            </a:r>
          </a:p>
          <a:p>
            <a:pPr>
              <a:spcBef>
                <a:spcPts val="1000"/>
              </a:spcBef>
            </a:pPr>
            <a:r>
              <a:rPr lang="pt-BR" sz="1300" dirty="0">
                <a:solidFill>
                  <a:srgbClr val="444444"/>
                </a:solidFill>
              </a:rPr>
              <a:t>▶  Pedidos com 3 dias ou mais de atraso (críticos).</a:t>
            </a:r>
            <a:endParaRPr sz="1300" b="0" i="0" dirty="0">
              <a:solidFill>
                <a:srgbClr val="444444"/>
              </a:solidFill>
            </a:endParaRPr>
          </a:p>
          <a:p>
            <a:pPr algn="l">
              <a:spcBef>
                <a:spcPts val="1000"/>
              </a:spcBef>
            </a:pPr>
            <a:r>
              <a:rPr sz="1300" b="0" i="0" dirty="0">
                <a:solidFill>
                  <a:srgbClr val="444444"/>
                </a:solidFill>
              </a:rPr>
              <a:t>▶  Revis</a:t>
            </a:r>
            <a:r>
              <a:rPr lang="pt-BR" sz="1300" b="0" i="0" dirty="0">
                <a:solidFill>
                  <a:srgbClr val="444444"/>
                </a:solidFill>
              </a:rPr>
              <a:t>a</a:t>
            </a:r>
            <a:r>
              <a:rPr sz="1300" b="0" i="0" dirty="0">
                <a:solidFill>
                  <a:srgbClr val="444444"/>
                </a:solidFill>
              </a:rPr>
              <a:t>r SLA com </a:t>
            </a:r>
            <a:r>
              <a:rPr sz="1300" b="0" i="0" dirty="0" err="1">
                <a:solidFill>
                  <a:srgbClr val="444444"/>
                </a:solidFill>
              </a:rPr>
              <a:t>transportadoras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nas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rotas</a:t>
            </a:r>
            <a:r>
              <a:rPr sz="1300" b="0" i="0" dirty="0">
                <a:solidFill>
                  <a:srgbClr val="444444"/>
                </a:solidFill>
              </a:rPr>
              <a:t> de </a:t>
            </a:r>
            <a:r>
              <a:rPr sz="1300" b="0" i="0" dirty="0" err="1">
                <a:solidFill>
                  <a:srgbClr val="444444"/>
                </a:solidFill>
              </a:rPr>
              <a:t>maior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atraso</a:t>
            </a:r>
            <a:r>
              <a:rPr lang="pt-BR" sz="1300" dirty="0">
                <a:solidFill>
                  <a:srgbClr val="444444"/>
                </a:solidFill>
              </a:rPr>
              <a:t>.</a:t>
            </a:r>
            <a:endParaRPr lang="pt-BR" sz="1300" b="0" i="0" dirty="0">
              <a:solidFill>
                <a:srgbClr val="444444"/>
              </a:solidFill>
            </a:endParaRPr>
          </a:p>
          <a:p>
            <a:pPr>
              <a:spcBef>
                <a:spcPts val="1000"/>
              </a:spcBef>
            </a:pPr>
            <a:r>
              <a:rPr lang="pt-BR" sz="1300" dirty="0">
                <a:solidFill>
                  <a:srgbClr val="444444"/>
                </a:solidFill>
              </a:rPr>
              <a:t>▶  Reavaliar cálculo de prazo de entrega.</a:t>
            </a:r>
          </a:p>
          <a:p>
            <a:pPr>
              <a:spcBef>
                <a:spcPts val="1000"/>
              </a:spcBef>
            </a:pPr>
            <a:r>
              <a:rPr lang="pt-BR" sz="1300" dirty="0">
                <a:solidFill>
                  <a:srgbClr val="444444"/>
                </a:solidFill>
              </a:rPr>
              <a:t>▶  Verificar a possibilidade de expandir ou trocar empresa responsável pela logística.</a:t>
            </a:r>
          </a:p>
          <a:p>
            <a:pPr>
              <a:spcBef>
                <a:spcPts val="1000"/>
              </a:spcBef>
            </a:pPr>
            <a:r>
              <a:rPr lang="pt-BR" sz="1300" dirty="0">
                <a:solidFill>
                  <a:srgbClr val="444444"/>
                </a:solidFill>
              </a:rPr>
              <a:t>▶  Prazo de 8 dias de entrega é um absurdo, concorrências oferecem serviços de 1 ou 2 dias de entrega.</a:t>
            </a:r>
            <a:endParaRPr sz="1300" b="0" i="0" dirty="0">
              <a:solidFill>
                <a:srgbClr val="444444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297680" y="1417320"/>
            <a:ext cx="3749039" cy="5029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89120" y="1463040"/>
            <a:ext cx="3566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FFFF"/>
                </a:solidFill>
              </a:rPr>
              <a:t>📞  Atendimento (SAC)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1938528"/>
            <a:ext cx="3749039" cy="27432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89120" y="1915936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444444"/>
                </a:solidFill>
              </a:rPr>
              <a:t>Prioridade</a:t>
            </a:r>
            <a:r>
              <a:rPr sz="1400" b="1" i="0" dirty="0">
                <a:solidFill>
                  <a:srgbClr val="444444"/>
                </a:solidFill>
              </a:rPr>
              <a:t> ALTA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231136"/>
            <a:ext cx="3749039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297680" y="1417320"/>
            <a:ext cx="3749039" cy="5029200"/>
          </a:xfrm>
          <a:prstGeom prst="rect">
            <a:avLst/>
          </a:prstGeom>
          <a:noFill/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07408" y="2304288"/>
            <a:ext cx="3520440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300" b="0" i="0" dirty="0">
                <a:solidFill>
                  <a:srgbClr val="444444"/>
                </a:solidFill>
              </a:rPr>
              <a:t>▶  </a:t>
            </a:r>
            <a:r>
              <a:rPr sz="1300" b="0" i="0" dirty="0" err="1">
                <a:solidFill>
                  <a:srgbClr val="444444"/>
                </a:solidFill>
              </a:rPr>
              <a:t>Investir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em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resolução</a:t>
            </a:r>
            <a:r>
              <a:rPr sz="1300" b="0" i="0" dirty="0">
                <a:solidFill>
                  <a:srgbClr val="444444"/>
                </a:solidFill>
              </a:rPr>
              <a:t> no </a:t>
            </a:r>
            <a:r>
              <a:rPr sz="1300" b="0" i="0" dirty="0" err="1">
                <a:solidFill>
                  <a:srgbClr val="444444"/>
                </a:solidFill>
              </a:rPr>
              <a:t>primeiro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contato</a:t>
            </a:r>
            <a:r>
              <a:rPr sz="1300" b="0" i="0" dirty="0">
                <a:solidFill>
                  <a:srgbClr val="444444"/>
                </a:solidFill>
              </a:rPr>
              <a:t> (First Call Resolution)</a:t>
            </a:r>
            <a:r>
              <a:rPr lang="pt-BR" sz="1300" b="0" i="0" dirty="0">
                <a:solidFill>
                  <a:srgbClr val="444444"/>
                </a:solidFill>
              </a:rPr>
              <a:t>.</a:t>
            </a:r>
            <a:endParaRPr sz="1300" b="0" i="0" dirty="0">
              <a:solidFill>
                <a:srgbClr val="444444"/>
              </a:solidFill>
            </a:endParaRPr>
          </a:p>
          <a:p>
            <a:pPr algn="l">
              <a:spcBef>
                <a:spcPts val="1000"/>
              </a:spcBef>
            </a:pPr>
            <a:r>
              <a:rPr sz="1300" b="0" i="0" dirty="0">
                <a:solidFill>
                  <a:srgbClr val="444444"/>
                </a:solidFill>
              </a:rPr>
              <a:t>▶  </a:t>
            </a:r>
            <a:r>
              <a:rPr sz="1300" b="0" i="0" dirty="0" err="1">
                <a:solidFill>
                  <a:srgbClr val="444444"/>
                </a:solidFill>
              </a:rPr>
              <a:t>Reduzir</a:t>
            </a:r>
            <a:r>
              <a:rPr sz="1300" b="0" i="0" dirty="0">
                <a:solidFill>
                  <a:srgbClr val="444444"/>
                </a:solidFill>
              </a:rPr>
              <a:t> o tempo </a:t>
            </a:r>
            <a:r>
              <a:rPr sz="1300" b="0" i="0" dirty="0" err="1">
                <a:solidFill>
                  <a:srgbClr val="444444"/>
                </a:solidFill>
              </a:rPr>
              <a:t>médio</a:t>
            </a:r>
            <a:r>
              <a:rPr sz="1300" b="0" i="0" dirty="0">
                <a:solidFill>
                  <a:srgbClr val="444444"/>
                </a:solidFill>
              </a:rPr>
              <a:t> de </a:t>
            </a:r>
            <a:r>
              <a:rPr sz="1300" b="0" i="0" dirty="0" err="1">
                <a:solidFill>
                  <a:srgbClr val="444444"/>
                </a:solidFill>
              </a:rPr>
              <a:t>resolução</a:t>
            </a:r>
            <a:r>
              <a:rPr sz="1300" b="0" i="0" dirty="0">
                <a:solidFill>
                  <a:srgbClr val="444444"/>
                </a:solidFill>
              </a:rPr>
              <a:t> de </a:t>
            </a:r>
            <a:r>
              <a:rPr sz="1300" b="0" i="0" dirty="0" err="1">
                <a:solidFill>
                  <a:srgbClr val="444444"/>
                </a:solidFill>
              </a:rPr>
              <a:t>problemas</a:t>
            </a:r>
            <a:r>
              <a:rPr lang="pt-BR" sz="1300" b="0" i="0" dirty="0">
                <a:solidFill>
                  <a:srgbClr val="444444"/>
                </a:solidFill>
              </a:rPr>
              <a:t>.</a:t>
            </a:r>
            <a:endParaRPr sz="1300" b="0" i="0" dirty="0">
              <a:solidFill>
                <a:srgbClr val="444444"/>
              </a:solidFill>
            </a:endParaRPr>
          </a:p>
          <a:p>
            <a:pPr algn="l">
              <a:spcBef>
                <a:spcPts val="1000"/>
              </a:spcBef>
            </a:pPr>
            <a:r>
              <a:rPr sz="1300" b="0" i="0" dirty="0">
                <a:solidFill>
                  <a:srgbClr val="444444"/>
                </a:solidFill>
              </a:rPr>
              <a:t>▶  </a:t>
            </a:r>
            <a:r>
              <a:rPr sz="1300" b="0" i="0" dirty="0" err="1">
                <a:solidFill>
                  <a:srgbClr val="444444"/>
                </a:solidFill>
              </a:rPr>
              <a:t>Criar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alertas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automáticos</a:t>
            </a:r>
            <a:r>
              <a:rPr lang="pt-BR" sz="1300" b="0" i="0" dirty="0">
                <a:solidFill>
                  <a:srgbClr val="444444"/>
                </a:solidFill>
              </a:rPr>
              <a:t>, principalmente </a:t>
            </a:r>
            <a:r>
              <a:rPr sz="1300" b="0" i="0" dirty="0">
                <a:solidFill>
                  <a:srgbClr val="444444"/>
                </a:solidFill>
              </a:rPr>
              <a:t>para </a:t>
            </a:r>
            <a:r>
              <a:rPr sz="1300" b="0" i="0" dirty="0" err="1">
                <a:solidFill>
                  <a:srgbClr val="444444"/>
                </a:solidFill>
              </a:rPr>
              <a:t>clientes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que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já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acionaram</a:t>
            </a:r>
            <a:r>
              <a:rPr sz="1300" b="0" i="0" dirty="0">
                <a:solidFill>
                  <a:srgbClr val="444444"/>
                </a:solidFill>
              </a:rPr>
              <a:t> o SAC</a:t>
            </a:r>
            <a:r>
              <a:rPr lang="pt-BR" sz="1300" b="0" i="0" dirty="0">
                <a:solidFill>
                  <a:srgbClr val="444444"/>
                </a:solidFill>
              </a:rPr>
              <a:t>.</a:t>
            </a:r>
          </a:p>
          <a:p>
            <a:pPr>
              <a:spcBef>
                <a:spcPts val="1000"/>
              </a:spcBef>
            </a:pPr>
            <a:r>
              <a:rPr lang="pt-BR" sz="1300" dirty="0">
                <a:solidFill>
                  <a:srgbClr val="444444"/>
                </a:solidFill>
              </a:rPr>
              <a:t>▶  Revisar abordagens da equipe e fazer treinamentos.</a:t>
            </a:r>
          </a:p>
          <a:p>
            <a:pPr>
              <a:spcBef>
                <a:spcPts val="1000"/>
              </a:spcBef>
            </a:pPr>
            <a:r>
              <a:rPr lang="pt-BR" sz="1300" dirty="0">
                <a:solidFill>
                  <a:srgbClr val="444444"/>
                </a:solidFill>
              </a:rPr>
              <a:t>▶  Realizar análise das reclamações, principalmente para clientes que não tiveram atraso.</a:t>
            </a:r>
          </a:p>
          <a:p>
            <a:pPr>
              <a:spcBef>
                <a:spcPts val="1000"/>
              </a:spcBef>
            </a:pPr>
            <a:r>
              <a:rPr lang="pt-BR" sz="1300" dirty="0">
                <a:solidFill>
                  <a:srgbClr val="444444"/>
                </a:solidFill>
              </a:rPr>
              <a:t>▶  Acompanhamento de avaliações externas, Reclame Aqui!, Procon, Google Avaliações, etc.</a:t>
            </a:r>
          </a:p>
          <a:p>
            <a:pPr>
              <a:spcBef>
                <a:spcPts val="1000"/>
              </a:spcBef>
            </a:pPr>
            <a:endParaRPr sz="1300" b="0" i="0" dirty="0">
              <a:solidFill>
                <a:srgbClr val="444444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229600" y="1417320"/>
            <a:ext cx="3749039" cy="5029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21040" y="1463040"/>
            <a:ext cx="3566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FFFF"/>
                </a:solidFill>
              </a:rPr>
              <a:t>📊  CRM / Estratégia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1938528"/>
            <a:ext cx="3749039" cy="27432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21040" y="1915936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444444"/>
                </a:solidFill>
              </a:rPr>
              <a:t>Prioridade</a:t>
            </a:r>
            <a:r>
              <a:rPr sz="1400" b="1" i="0" dirty="0">
                <a:solidFill>
                  <a:srgbClr val="444444"/>
                </a:solidFill>
              </a:rPr>
              <a:t> MÉDIA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2231136"/>
            <a:ext cx="3749039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29600" y="1417320"/>
            <a:ext cx="3749039" cy="5029200"/>
          </a:xfrm>
          <a:prstGeom prst="rect">
            <a:avLst/>
          </a:prstGeom>
          <a:noFill/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39328" y="2304288"/>
            <a:ext cx="3520440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300" b="0" i="0" dirty="0">
                <a:solidFill>
                  <a:srgbClr val="444444"/>
                </a:solidFill>
              </a:rPr>
              <a:t>▶  Usar o </a:t>
            </a:r>
            <a:r>
              <a:rPr sz="1300" b="0" i="0" dirty="0" err="1">
                <a:solidFill>
                  <a:srgbClr val="444444"/>
                </a:solidFill>
              </a:rPr>
              <a:t>modelo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preditivo</a:t>
            </a:r>
            <a:r>
              <a:rPr sz="1300" b="0" i="0" dirty="0">
                <a:solidFill>
                  <a:srgbClr val="444444"/>
                </a:solidFill>
              </a:rPr>
              <a:t> para </a:t>
            </a:r>
            <a:r>
              <a:rPr sz="1300" b="0" i="0" dirty="0" err="1">
                <a:solidFill>
                  <a:srgbClr val="444444"/>
                </a:solidFill>
              </a:rPr>
              <a:t>identificar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clientes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em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risco</a:t>
            </a:r>
            <a:r>
              <a:rPr lang="pt-BR" sz="1300" b="0" i="0" dirty="0">
                <a:solidFill>
                  <a:srgbClr val="444444"/>
                </a:solidFill>
              </a:rPr>
              <a:t>.</a:t>
            </a:r>
            <a:endParaRPr sz="1300" b="0" i="0" dirty="0">
              <a:solidFill>
                <a:srgbClr val="444444"/>
              </a:solidFill>
            </a:endParaRPr>
          </a:p>
          <a:p>
            <a:pPr algn="l">
              <a:spcBef>
                <a:spcPts val="1000"/>
              </a:spcBef>
            </a:pPr>
            <a:r>
              <a:rPr sz="1300" b="0" i="0" dirty="0">
                <a:solidFill>
                  <a:srgbClr val="444444"/>
                </a:solidFill>
              </a:rPr>
              <a:t>▶  </a:t>
            </a:r>
            <a:r>
              <a:rPr sz="1300" b="0" i="0" dirty="0" err="1">
                <a:solidFill>
                  <a:srgbClr val="444444"/>
                </a:solidFill>
              </a:rPr>
              <a:t>Acionar</a:t>
            </a:r>
            <a:r>
              <a:rPr sz="1300" b="0" i="0" dirty="0">
                <a:solidFill>
                  <a:srgbClr val="444444"/>
                </a:solidFill>
              </a:rPr>
              <a:t> equipe de CX antes da coleta do NPS</a:t>
            </a:r>
            <a:r>
              <a:rPr lang="pt-BR" sz="1300" b="0" i="0" dirty="0">
                <a:solidFill>
                  <a:srgbClr val="444444"/>
                </a:solidFill>
              </a:rPr>
              <a:t>.</a:t>
            </a:r>
            <a:endParaRPr sz="1300" b="0" i="0" dirty="0">
              <a:solidFill>
                <a:srgbClr val="444444"/>
              </a:solidFill>
            </a:endParaRPr>
          </a:p>
          <a:p>
            <a:pPr algn="l">
              <a:spcBef>
                <a:spcPts val="1000"/>
              </a:spcBef>
            </a:pPr>
            <a:r>
              <a:rPr sz="1300" b="0" i="0" dirty="0">
                <a:solidFill>
                  <a:srgbClr val="444444"/>
                </a:solidFill>
              </a:rPr>
              <a:t>▶  </a:t>
            </a:r>
            <a:r>
              <a:rPr sz="1300" b="0" i="0" dirty="0" err="1">
                <a:solidFill>
                  <a:srgbClr val="444444"/>
                </a:solidFill>
              </a:rPr>
              <a:t>Oferecer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contato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personalizado</a:t>
            </a:r>
            <a:r>
              <a:rPr sz="1300" b="0" i="0" dirty="0">
                <a:solidFill>
                  <a:srgbClr val="444444"/>
                </a:solidFill>
              </a:rPr>
              <a:t> e </a:t>
            </a:r>
            <a:r>
              <a:rPr sz="1300" b="0" i="0" dirty="0" err="1">
                <a:solidFill>
                  <a:srgbClr val="444444"/>
                </a:solidFill>
              </a:rPr>
              <a:t>cupom</a:t>
            </a:r>
            <a:r>
              <a:rPr sz="1300" b="0" i="0" dirty="0">
                <a:solidFill>
                  <a:srgbClr val="444444"/>
                </a:solidFill>
              </a:rPr>
              <a:t> de </a:t>
            </a:r>
            <a:r>
              <a:rPr sz="1300" b="0" i="0" dirty="0" err="1">
                <a:solidFill>
                  <a:srgbClr val="444444"/>
                </a:solidFill>
              </a:rPr>
              <a:t>desconto</a:t>
            </a:r>
            <a:r>
              <a:rPr sz="1300" b="0" i="0" dirty="0">
                <a:solidFill>
                  <a:srgbClr val="444444"/>
                </a:solidFill>
              </a:rPr>
              <a:t> </a:t>
            </a:r>
            <a:r>
              <a:rPr sz="1300" b="0" i="0" dirty="0" err="1">
                <a:solidFill>
                  <a:srgbClr val="444444"/>
                </a:solidFill>
              </a:rPr>
              <a:t>preventivo</a:t>
            </a:r>
            <a:r>
              <a:rPr lang="pt-BR" sz="1300" b="0" i="0" dirty="0">
                <a:solidFill>
                  <a:srgbClr val="444444"/>
                </a:solidFill>
              </a:rPr>
              <a:t>.</a:t>
            </a:r>
            <a:endParaRPr sz="1300" b="0" i="0" dirty="0">
              <a:solidFill>
                <a:srgbClr val="444444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762B79-ACCF-CA3F-3C8A-D49188089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924395-9799-2320-20B8-AA849B63382F}"/>
              </a:ext>
            </a:extLst>
          </p:cNvPr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8D9AFC-55DE-1484-445A-F6DFCB08C281}"/>
              </a:ext>
            </a:extLst>
          </p:cNvPr>
          <p:cNvSpPr txBox="1"/>
          <p:nvPr/>
        </p:nvSpPr>
        <p:spPr>
          <a:xfrm>
            <a:off x="365760" y="35561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800" b="1" dirty="0">
                <a:solidFill>
                  <a:srgbClr val="FFFFFF"/>
                </a:solidFill>
              </a:rPr>
              <a:t>Atuação com o Time de Dados e Tecnologia</a:t>
            </a:r>
            <a:r>
              <a:rPr sz="2800" b="1" i="0" dirty="0">
                <a:solidFill>
                  <a:srgbClr val="FFFFFF"/>
                </a:solidFill>
              </a:rPr>
              <a:t>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86F97B-230A-1CA4-AFDF-E55060FCE69D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47608B-1E40-5BC3-469F-F8D8E5240FEF}"/>
              </a:ext>
            </a:extLst>
          </p:cNvPr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650117-2623-7D65-5467-9C96B378575C}"/>
              </a:ext>
            </a:extLst>
          </p:cNvPr>
          <p:cNvSpPr/>
          <p:nvPr/>
        </p:nvSpPr>
        <p:spPr>
          <a:xfrm>
            <a:off x="365760" y="1984978"/>
            <a:ext cx="11430000" cy="2457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6">
            <a:extLst>
              <a:ext uri="{FF2B5EF4-FFF2-40B4-BE49-F238E27FC236}">
                <a16:creationId xmlns:a16="http://schemas.microsoft.com/office/drawing/2014/main" id="{0CD4D9AA-1254-2322-566B-DC87D759CCFB}"/>
              </a:ext>
            </a:extLst>
          </p:cNvPr>
          <p:cNvSpPr txBox="1"/>
          <p:nvPr/>
        </p:nvSpPr>
        <p:spPr>
          <a:xfrm>
            <a:off x="365760" y="1498882"/>
            <a:ext cx="5548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b="1" dirty="0">
                <a:solidFill>
                  <a:srgbClr val="1A253A"/>
                </a:solidFill>
              </a:rPr>
              <a:t>Perfil Médio por Categoria do NPS</a:t>
            </a:r>
            <a:endParaRPr b="1" i="0" dirty="0">
              <a:solidFill>
                <a:srgbClr val="1A253A"/>
              </a:solidFill>
            </a:endParaRP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6BAA4E7A-E800-D0C1-025D-1E07DCD2A1BA}"/>
              </a:ext>
            </a:extLst>
          </p:cNvPr>
          <p:cNvSpPr txBox="1"/>
          <p:nvPr/>
        </p:nvSpPr>
        <p:spPr>
          <a:xfrm>
            <a:off x="526335" y="2172392"/>
            <a:ext cx="11136154" cy="20826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444444"/>
                </a:solidFill>
              </a:rPr>
              <a:t>Acompanhamento de acesso, uso e compra – Site x App;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444444"/>
                </a:solidFill>
              </a:rPr>
              <a:t>Implementação de partição para acompanhamento dos dados;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444444"/>
                </a:solidFill>
              </a:rPr>
              <a:t>Inclusão de informações de datas (pedido, envio, recebimento e resposta) acompanhamento melhorias;</a:t>
            </a:r>
          </a:p>
          <a:p>
            <a:pPr marL="285750" indent="-285750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pt-BR" sz="1600" dirty="0">
                <a:solidFill>
                  <a:srgbClr val="444444"/>
                </a:solidFill>
              </a:rPr>
              <a:t>Revisão da marcação de identificação única do cliente e do produto;</a:t>
            </a:r>
            <a:r>
              <a:rPr lang="pt-BR" sz="1600" b="0" i="0" dirty="0">
                <a:solidFill>
                  <a:srgbClr val="444444"/>
                </a:solidFill>
              </a:rPr>
              <a:t> 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444444"/>
                </a:solidFill>
              </a:rPr>
              <a:t>Ampliação de </a:t>
            </a:r>
            <a:r>
              <a:rPr lang="pt-BR" sz="1600" dirty="0">
                <a:solidFill>
                  <a:srgbClr val="444444"/>
                </a:solidFill>
              </a:rPr>
              <a:t>a</a:t>
            </a:r>
            <a:r>
              <a:rPr lang="pt-BR" sz="1600" b="0" i="0" dirty="0">
                <a:solidFill>
                  <a:srgbClr val="444444"/>
                </a:solidFill>
              </a:rPr>
              <a:t>companhamento de clientes para recompra (até 30, 31 a 90, 91 a 180 e 181 a 360 dias);</a:t>
            </a:r>
          </a:p>
          <a:p>
            <a:pPr marL="285750" indent="-285750" algn="l"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444444"/>
                </a:solidFill>
              </a:rPr>
              <a:t>Revisão de composição do nota de avaliação.</a:t>
            </a:r>
          </a:p>
        </p:txBody>
      </p:sp>
    </p:spTree>
    <p:extLst>
      <p:ext uri="{BB962C8B-B14F-4D97-AF65-F5344CB8AC3E}">
        <p14:creationId xmlns:p14="http://schemas.microsoft.com/office/powerpoint/2010/main" val="33921684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99847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</a:rPr>
              <a:t>O </a:t>
            </a:r>
            <a:r>
              <a:rPr sz="2800" b="1" i="0" dirty="0" err="1">
                <a:solidFill>
                  <a:srgbClr val="FFFFFF"/>
                </a:solidFill>
              </a:rPr>
              <a:t>Que</a:t>
            </a:r>
            <a:r>
              <a:rPr sz="2800" b="1" i="0" dirty="0">
                <a:solidFill>
                  <a:srgbClr val="FFFFFF"/>
                </a:solidFill>
              </a:rPr>
              <a:t> Deve ser </a:t>
            </a:r>
            <a:r>
              <a:rPr sz="2800" b="1" i="0" dirty="0" err="1">
                <a:solidFill>
                  <a:srgbClr val="FFFFFF"/>
                </a:solidFill>
              </a:rPr>
              <a:t>Considerado</a:t>
            </a:r>
            <a:endParaRPr sz="2800" b="1" i="0" dirty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56692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5669280" cy="1554480"/>
          </a:xfrm>
          <a:prstGeom prst="rect">
            <a:avLst/>
          </a:prstGeom>
          <a:noFill/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" y="1554480"/>
            <a:ext cx="5394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1A253A"/>
                </a:solidFill>
              </a:rPr>
              <a:t>📦  </a:t>
            </a:r>
            <a:r>
              <a:rPr sz="1600" b="1" i="0" dirty="0" err="1">
                <a:solidFill>
                  <a:srgbClr val="1A253A"/>
                </a:solidFill>
              </a:rPr>
              <a:t>Tamanho</a:t>
            </a:r>
            <a:r>
              <a:rPr sz="1600" b="1" i="0" dirty="0">
                <a:solidFill>
                  <a:srgbClr val="1A253A"/>
                </a:solidFill>
              </a:rPr>
              <a:t> da </a:t>
            </a:r>
            <a:r>
              <a:rPr sz="1600" b="1" i="0" dirty="0" err="1">
                <a:solidFill>
                  <a:srgbClr val="1A253A"/>
                </a:solidFill>
              </a:rPr>
              <a:t>Amostra</a:t>
            </a:r>
            <a:endParaRPr sz="1600" b="1" i="0" dirty="0">
              <a:solidFill>
                <a:srgbClr val="1A253A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5488" y="1920240"/>
            <a:ext cx="53949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444444"/>
                </a:solidFill>
              </a:rPr>
              <a:t>2.500 </a:t>
            </a:r>
            <a:r>
              <a:rPr sz="1400" b="0" i="0" dirty="0" err="1">
                <a:solidFill>
                  <a:srgbClr val="444444"/>
                </a:solidFill>
              </a:rPr>
              <a:t>registros</a:t>
            </a:r>
            <a:r>
              <a:rPr sz="1400" b="0" i="0" dirty="0">
                <a:solidFill>
                  <a:srgbClr val="444444"/>
                </a:solidFill>
              </a:rPr>
              <a:t> é </a:t>
            </a:r>
            <a:r>
              <a:rPr sz="1400" b="0" i="0" dirty="0" err="1">
                <a:solidFill>
                  <a:srgbClr val="444444"/>
                </a:solidFill>
              </a:rPr>
              <a:t>uma</a:t>
            </a:r>
            <a:r>
              <a:rPr sz="1400" b="0" i="0" dirty="0">
                <a:solidFill>
                  <a:srgbClr val="444444"/>
                </a:solidFill>
              </a:rPr>
              <a:t> base </a:t>
            </a:r>
            <a:r>
              <a:rPr sz="1400" b="0" i="0" dirty="0" err="1">
                <a:solidFill>
                  <a:srgbClr val="444444"/>
                </a:solidFill>
              </a:rPr>
              <a:t>razoável</a:t>
            </a:r>
            <a:r>
              <a:rPr sz="1400" b="0" i="0" dirty="0">
                <a:solidFill>
                  <a:srgbClr val="444444"/>
                </a:solidFill>
              </a:rPr>
              <a:t> para </a:t>
            </a:r>
            <a:r>
              <a:rPr sz="1400" b="0" i="0" dirty="0" err="1">
                <a:solidFill>
                  <a:srgbClr val="444444"/>
                </a:solidFill>
              </a:rPr>
              <a:t>análise</a:t>
            </a:r>
            <a:r>
              <a:rPr sz="1400" b="0" i="0" dirty="0">
                <a:solidFill>
                  <a:srgbClr val="444444"/>
                </a:solidFill>
              </a:rPr>
              <a:t>, mas </a:t>
            </a:r>
            <a:r>
              <a:rPr sz="1400" b="0" i="0" dirty="0" err="1">
                <a:solidFill>
                  <a:srgbClr val="444444"/>
                </a:solidFill>
              </a:rPr>
              <a:t>limitada</a:t>
            </a:r>
            <a:r>
              <a:rPr sz="1400" b="0" i="0" dirty="0">
                <a:solidFill>
                  <a:srgbClr val="444444"/>
                </a:solidFill>
              </a:rPr>
              <a:t> para um </a:t>
            </a:r>
            <a:r>
              <a:rPr sz="1400" b="0" i="0" dirty="0" err="1">
                <a:solidFill>
                  <a:srgbClr val="444444"/>
                </a:solidFill>
              </a:rPr>
              <a:t>modelo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robusto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em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produção</a:t>
            </a:r>
            <a:r>
              <a:rPr sz="1400" b="0" i="0" dirty="0">
                <a:solidFill>
                  <a:srgbClr val="444444"/>
                </a:solidFill>
              </a:rPr>
              <a:t>. </a:t>
            </a:r>
            <a:r>
              <a:rPr sz="1400" b="0" i="0" dirty="0" err="1">
                <a:solidFill>
                  <a:srgbClr val="444444"/>
                </a:solidFill>
              </a:rPr>
              <a:t>Recomenda</a:t>
            </a:r>
            <a:r>
              <a:rPr sz="1400" b="0" i="0" dirty="0">
                <a:solidFill>
                  <a:srgbClr val="444444"/>
                </a:solidFill>
              </a:rPr>
              <a:t>-se </a:t>
            </a:r>
            <a:r>
              <a:rPr sz="1400" b="0" i="0" dirty="0" err="1">
                <a:solidFill>
                  <a:srgbClr val="444444"/>
                </a:solidFill>
              </a:rPr>
              <a:t>ampliar</a:t>
            </a:r>
            <a:r>
              <a:rPr sz="1400" b="0" i="0" dirty="0">
                <a:solidFill>
                  <a:srgbClr val="444444"/>
                </a:solidFill>
              </a:rPr>
              <a:t> com dados </a:t>
            </a:r>
            <a:r>
              <a:rPr sz="1400" b="0" i="0" dirty="0" err="1">
                <a:solidFill>
                  <a:srgbClr val="444444"/>
                </a:solidFill>
              </a:rPr>
              <a:t>históricos</a:t>
            </a:r>
            <a:r>
              <a:rPr sz="1400" b="0" i="0" dirty="0">
                <a:solidFill>
                  <a:srgbClr val="444444"/>
                </a:solidFill>
              </a:rPr>
              <a:t> de 12+ meses antes de </a:t>
            </a:r>
            <a:r>
              <a:rPr sz="1400" b="0" i="0" dirty="0" err="1">
                <a:solidFill>
                  <a:srgbClr val="444444"/>
                </a:solidFill>
              </a:rPr>
              <a:t>implementar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em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larga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escala</a:t>
            </a:r>
            <a:r>
              <a:rPr sz="1400" b="0" i="0" dirty="0">
                <a:solidFill>
                  <a:srgbClr val="444444"/>
                </a:solidFill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463040"/>
            <a:ext cx="56692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09360" y="1463040"/>
            <a:ext cx="5669280" cy="1554480"/>
          </a:xfrm>
          <a:prstGeom prst="rect">
            <a:avLst/>
          </a:prstGeom>
          <a:noFill/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19088" y="1554480"/>
            <a:ext cx="5394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53A"/>
                </a:solidFill>
              </a:rPr>
              <a:t>🔄  Deriva do Modelo (Model Drift)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1920240"/>
            <a:ext cx="53949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</a:rPr>
              <a:t>O comportamento dos clientes muda ao longo do tempo. O modelo deve ser retreinado periodicamente (sugerido: trimestral) para manter sua eficácia e não gerar alertas equivocados.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154680"/>
            <a:ext cx="56692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3154680"/>
            <a:ext cx="5669280" cy="1554480"/>
          </a:xfrm>
          <a:prstGeom prst="rect">
            <a:avLst/>
          </a:prstGeom>
          <a:noFill/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" y="3246120"/>
            <a:ext cx="5394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53A"/>
                </a:solidFill>
              </a:rPr>
              <a:t>⚠️  Dados Não Capturados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3611880"/>
            <a:ext cx="53949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444444"/>
                </a:solidFill>
              </a:rPr>
              <a:t>Qualidade</a:t>
            </a:r>
            <a:r>
              <a:rPr sz="1400" b="0" i="0" dirty="0">
                <a:solidFill>
                  <a:srgbClr val="444444"/>
                </a:solidFill>
              </a:rPr>
              <a:t> do </a:t>
            </a:r>
            <a:r>
              <a:rPr sz="1400" b="0" i="0" dirty="0" err="1">
                <a:solidFill>
                  <a:srgbClr val="444444"/>
                </a:solidFill>
              </a:rPr>
              <a:t>produto</a:t>
            </a:r>
            <a:r>
              <a:rPr sz="1400" b="0" i="0" dirty="0">
                <a:solidFill>
                  <a:srgbClr val="444444"/>
                </a:solidFill>
              </a:rPr>
              <a:t>, </a:t>
            </a:r>
            <a:r>
              <a:rPr sz="1400" b="0" i="0" dirty="0" err="1">
                <a:solidFill>
                  <a:srgbClr val="444444"/>
                </a:solidFill>
              </a:rPr>
              <a:t>sazonalidade</a:t>
            </a:r>
            <a:r>
              <a:rPr sz="1400" b="0" i="0" dirty="0">
                <a:solidFill>
                  <a:srgbClr val="444444"/>
                </a:solidFill>
              </a:rPr>
              <a:t> (Black Friday, Natal), </a:t>
            </a:r>
            <a:r>
              <a:rPr sz="1400" b="0" i="0" dirty="0" err="1">
                <a:solidFill>
                  <a:srgbClr val="444444"/>
                </a:solidFill>
              </a:rPr>
              <a:t>promoções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especiais</a:t>
            </a:r>
            <a:r>
              <a:rPr sz="1400" b="0" i="0" dirty="0">
                <a:solidFill>
                  <a:srgbClr val="444444"/>
                </a:solidFill>
              </a:rPr>
              <a:t> e </a:t>
            </a:r>
            <a:r>
              <a:rPr sz="1400" b="0" i="0" dirty="0" err="1">
                <a:solidFill>
                  <a:srgbClr val="444444"/>
                </a:solidFill>
              </a:rPr>
              <a:t>eventos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externos</a:t>
            </a:r>
            <a:r>
              <a:rPr sz="1400" b="0" i="0" dirty="0">
                <a:solidFill>
                  <a:srgbClr val="444444"/>
                </a:solidFill>
              </a:rPr>
              <a:t> não </a:t>
            </a:r>
            <a:r>
              <a:rPr sz="1400" b="0" i="0" dirty="0" err="1">
                <a:solidFill>
                  <a:srgbClr val="444444"/>
                </a:solidFill>
              </a:rPr>
              <a:t>estão</a:t>
            </a:r>
            <a:r>
              <a:rPr sz="1400" b="0" i="0" dirty="0">
                <a:solidFill>
                  <a:srgbClr val="444444"/>
                </a:solidFill>
              </a:rPr>
              <a:t> no dataset e </a:t>
            </a:r>
            <a:r>
              <a:rPr sz="1400" b="0" i="0" dirty="0" err="1">
                <a:solidFill>
                  <a:srgbClr val="444444"/>
                </a:solidFill>
              </a:rPr>
              <a:t>podem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influenciar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significativamente</a:t>
            </a:r>
            <a:r>
              <a:rPr sz="1400" b="0" i="0" dirty="0">
                <a:solidFill>
                  <a:srgbClr val="444444"/>
                </a:solidFill>
              </a:rPr>
              <a:t> o NPS.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154680"/>
            <a:ext cx="56692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09360" y="3154680"/>
            <a:ext cx="5669280" cy="1554480"/>
          </a:xfrm>
          <a:prstGeom prst="rect">
            <a:avLst/>
          </a:prstGeom>
          <a:noFill/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19088" y="3246120"/>
            <a:ext cx="5394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53A"/>
                </a:solidFill>
              </a:rPr>
              <a:t>🎯  Viés de Resposta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3611880"/>
            <a:ext cx="53949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444444"/>
                </a:solidFill>
              </a:rPr>
              <a:t>Clientes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muito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satisfeitos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ou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muito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insatisfeitos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têm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maior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propensão</a:t>
            </a:r>
            <a:r>
              <a:rPr sz="1400" b="0" i="0" dirty="0">
                <a:solidFill>
                  <a:srgbClr val="444444"/>
                </a:solidFill>
              </a:rPr>
              <a:t> a responder </a:t>
            </a:r>
            <a:r>
              <a:rPr sz="1400" b="0" i="0" dirty="0" err="1">
                <a:solidFill>
                  <a:srgbClr val="444444"/>
                </a:solidFill>
              </a:rPr>
              <a:t>ao</a:t>
            </a:r>
            <a:r>
              <a:rPr sz="1400" b="0" i="0" dirty="0">
                <a:solidFill>
                  <a:srgbClr val="444444"/>
                </a:solidFill>
              </a:rPr>
              <a:t> NPS. O dataset </a:t>
            </a:r>
            <a:r>
              <a:rPr sz="1400" b="0" i="0" dirty="0" err="1">
                <a:solidFill>
                  <a:srgbClr val="444444"/>
                </a:solidFill>
              </a:rPr>
              <a:t>pode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lang="pt-BR" sz="1400" b="0" i="0" dirty="0">
                <a:solidFill>
                  <a:srgbClr val="444444"/>
                </a:solidFill>
              </a:rPr>
              <a:t>representar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extremos</a:t>
            </a:r>
            <a:r>
              <a:rPr sz="1400" b="0" i="0" dirty="0">
                <a:solidFill>
                  <a:srgbClr val="444444"/>
                </a:solidFill>
              </a:rPr>
              <a:t>, </a:t>
            </a:r>
            <a:r>
              <a:rPr sz="1400" b="0" i="0" dirty="0" err="1">
                <a:solidFill>
                  <a:srgbClr val="444444"/>
                </a:solidFill>
              </a:rPr>
              <a:t>distorcendo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os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padrões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aprendidos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pelo</a:t>
            </a:r>
            <a:r>
              <a:rPr sz="1400" b="0" i="0" dirty="0">
                <a:solidFill>
                  <a:srgbClr val="444444"/>
                </a:solidFill>
              </a:rPr>
              <a:t> </a:t>
            </a:r>
            <a:r>
              <a:rPr sz="1400" b="0" i="0" dirty="0" err="1">
                <a:solidFill>
                  <a:srgbClr val="444444"/>
                </a:solidFill>
              </a:rPr>
              <a:t>modelo</a:t>
            </a:r>
            <a:r>
              <a:rPr sz="1400" b="0" i="0" dirty="0">
                <a:solidFill>
                  <a:srgbClr val="444444"/>
                </a:solidFill>
              </a:rPr>
              <a:t>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46320"/>
            <a:ext cx="56692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65760" y="4846320"/>
            <a:ext cx="5669280" cy="1554480"/>
          </a:xfrm>
          <a:prstGeom prst="rect">
            <a:avLst/>
          </a:prstGeom>
          <a:noFill/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5488" y="4937760"/>
            <a:ext cx="5394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53A"/>
                </a:solidFill>
              </a:rPr>
              <a:t>⚖️  LGPD e Privacidade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" y="5303520"/>
            <a:ext cx="53949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</a:rPr>
              <a:t>O uso dos dados para predição requer consentimento adequado conforme a LGPD (Lei 13.709/2018). A empresa deve garantir conformidade antes de qualquer implementação em produção.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374904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Conclusão e Próximos Passos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9BBDD"/>
                </a:solidFill>
              </a:rPr>
              <a:t>Tech Challenge Fase 1 | NPS Preditivo | Pós-Tech FIAP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b="1" i="0" dirty="0">
                <a:solidFill>
                  <a:srgbClr val="1A253A"/>
                </a:solidFill>
              </a:rPr>
              <a:t>Resumo</a:t>
            </a:r>
            <a:r>
              <a:rPr b="1" i="0" dirty="0">
                <a:solidFill>
                  <a:srgbClr val="1A253A"/>
                </a:solidFill>
              </a:rPr>
              <a:t>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005965"/>
            <a:ext cx="54864" cy="3657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9" name="TextBox 8"/>
          <p:cNvSpPr txBox="1"/>
          <p:nvPr/>
        </p:nvSpPr>
        <p:spPr>
          <a:xfrm>
            <a:off x="548640" y="2005965"/>
            <a:ext cx="1106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</a:rPr>
              <a:t>O NPS −80 é crítico e exige ação imediata — não é uma situação marginal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81453"/>
            <a:ext cx="54864" cy="3657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1" name="TextBox 10"/>
          <p:cNvSpPr txBox="1"/>
          <p:nvPr/>
        </p:nvSpPr>
        <p:spPr>
          <a:xfrm>
            <a:off x="548640" y="2481453"/>
            <a:ext cx="1106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</a:rPr>
              <a:t>Atraso na entrega + SAC são os fatores que mais diferenciam promotores de detratores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956941"/>
            <a:ext cx="54864" cy="3657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3" name="TextBox 12"/>
          <p:cNvSpPr txBox="1"/>
          <p:nvPr/>
        </p:nvSpPr>
        <p:spPr>
          <a:xfrm>
            <a:off x="548640" y="2956941"/>
            <a:ext cx="1106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</a:rPr>
              <a:t>O problema é sistêmico: todas as regiões estão no mesmo nível de insatisfação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432429"/>
            <a:ext cx="54864" cy="36576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5" name="TextBox 14"/>
          <p:cNvSpPr txBox="1"/>
          <p:nvPr/>
        </p:nvSpPr>
        <p:spPr>
          <a:xfrm>
            <a:off x="548640" y="3432429"/>
            <a:ext cx="1106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</a:rPr>
              <a:t>O modelo preditivo consegue identificar clientes em risco antes da pesquisa de NPS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907917"/>
            <a:ext cx="54864" cy="36576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7" name="TextBox 16"/>
          <p:cNvSpPr txBox="1"/>
          <p:nvPr/>
        </p:nvSpPr>
        <p:spPr>
          <a:xfrm>
            <a:off x="548640" y="3907917"/>
            <a:ext cx="1106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</a:rPr>
              <a:t>Existem ações concretas e viáveis que podem ser implementadas agora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839</TotalTime>
  <Words>1522</Words>
  <Application>Microsoft Office PowerPoint</Application>
  <PresentationFormat>Personalizar</PresentationFormat>
  <Paragraphs>177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Felipe Barbato de Biaggio</cp:lastModifiedBy>
  <cp:revision>7</cp:revision>
  <dcterms:created xsi:type="dcterms:W3CDTF">2013-01-27T09:14:16Z</dcterms:created>
  <dcterms:modified xsi:type="dcterms:W3CDTF">2026-06-22T21:43:42Z</dcterms:modified>
  <cp:category/>
</cp:coreProperties>
</file>