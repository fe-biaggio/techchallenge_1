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C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B3CDFC-863E-B07A-EC44-A37B90C2A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DCE5DC-1E9B-7EDF-25F4-4F4C699F42DA}"/>
              </a:ext>
            </a:extLst>
          </p:cNvPr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FCC67-CAA9-1648-9182-051A0C0A4DE3}"/>
              </a:ext>
            </a:extLst>
          </p:cNvPr>
          <p:cNvSpPr txBox="1"/>
          <p:nvPr/>
        </p:nvSpPr>
        <p:spPr>
          <a:xfrm>
            <a:off x="307167" y="328462"/>
            <a:ext cx="30876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i="0" dirty="0">
                <a:solidFill>
                  <a:srgbClr val="FFFFFF"/>
                </a:solidFill>
              </a:rPr>
              <a:t>Pontos de Atenção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C274F7-46A8-FE18-32F3-E9DA79662A3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3ECAAF-5112-98A2-306A-07503ED93E43}"/>
              </a:ext>
            </a:extLst>
          </p:cNvPr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BBDD"/>
                </a:solidFill>
              </a:rPr>
              <a:t>Tech Challenge Fase 1 | NPS Preditivo | Pós-Tech FIAP</a:t>
            </a:r>
          </a:p>
        </p:txBody>
      </p:sp>
      <p:pic>
        <p:nvPicPr>
          <p:cNvPr id="31" name="Imagem 30" descr="Atenção PNGs para download gratuito">
            <a:extLst>
              <a:ext uri="{FF2B5EF4-FFF2-40B4-BE49-F238E27FC236}">
                <a16:creationId xmlns:a16="http://schemas.microsoft.com/office/drawing/2014/main" id="{B45A269D-3161-675E-BF73-B69C6E831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402" y="234774"/>
            <a:ext cx="719171" cy="719171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0A3BF9C5-13D9-D7C3-A29B-EAAEEE8A75A9}"/>
              </a:ext>
            </a:extLst>
          </p:cNvPr>
          <p:cNvSpPr txBox="1"/>
          <p:nvPr/>
        </p:nvSpPr>
        <p:spPr>
          <a:xfrm>
            <a:off x="2121763" y="1367770"/>
            <a:ext cx="965757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pt-BR" dirty="0"/>
              <a:t>- Baixo entendimento do negócio (visibilidade da empresa e suas concorrentes);</a:t>
            </a:r>
          </a:p>
          <a:p>
            <a:r>
              <a:rPr lang="pt-BR" dirty="0"/>
              <a:t>- Sem visibilidade de como (site e app – Android/IOS) e quando é feita a compra e a coleta do NPS;</a:t>
            </a:r>
          </a:p>
          <a:p>
            <a:r>
              <a:rPr lang="pt-BR" dirty="0"/>
              <a:t>- Sem informação se o produto é da empresa ou o e-commerce é apenas um marketplace (plataforma de venda de produtos de terceiros);</a:t>
            </a:r>
          </a:p>
          <a:p>
            <a:r>
              <a:rPr lang="pt-BR" dirty="0"/>
              <a:t>- Possibilidade do cliente confundir a nota do produto com a nota da experiência com o e-commerce.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- Sem informação de partição da amostra dos dados;</a:t>
            </a:r>
          </a:p>
          <a:p>
            <a:r>
              <a:rPr lang="pt-BR" dirty="0"/>
              <a:t>- Sem visibilidade da relação da amostragem de respondentes sobre o total de pedidos;</a:t>
            </a:r>
          </a:p>
          <a:p>
            <a:r>
              <a:rPr lang="pt-BR" dirty="0"/>
              <a:t>- Sem informação de datas (pedido, envio, recebimento e resposta);</a:t>
            </a:r>
          </a:p>
          <a:p>
            <a:r>
              <a:rPr lang="pt-BR" dirty="0"/>
              <a:t>- Sem visibilidade histórica de NPS (está melhorando ou piorando?);</a:t>
            </a:r>
          </a:p>
          <a:p>
            <a:r>
              <a:rPr lang="pt-BR" dirty="0"/>
              <a:t>- Sem clareza se </a:t>
            </a:r>
            <a:r>
              <a:rPr lang="pt-BR" dirty="0" err="1"/>
              <a:t>order_value</a:t>
            </a:r>
            <a:r>
              <a:rPr lang="pt-BR" dirty="0"/>
              <a:t> é realmente referente ao total do pedido (produto - desconto + frete);</a:t>
            </a:r>
          </a:p>
          <a:p>
            <a:r>
              <a:rPr lang="pt-BR" dirty="0"/>
              <a:t>- Sem clareza se </a:t>
            </a:r>
            <a:r>
              <a:rPr lang="pt-BR" dirty="0" err="1"/>
              <a:t>delivery_time_days</a:t>
            </a:r>
            <a:r>
              <a:rPr lang="pt-BR" dirty="0"/>
              <a:t> é realmente referente ao tempo total previsto ou realizado;</a:t>
            </a:r>
          </a:p>
          <a:p>
            <a:r>
              <a:rPr lang="pt-BR" dirty="0"/>
              <a:t>- Por não termos informações de data, a coluna repeat_purchase_30d passa a ser irrelevante, todas as operações podem ter sido feitas em D-1;</a:t>
            </a:r>
          </a:p>
          <a:p>
            <a:r>
              <a:rPr lang="pt-BR" dirty="0"/>
              <a:t>- Sem visibilidade de como o </a:t>
            </a:r>
            <a:r>
              <a:rPr lang="pt-BR" dirty="0" err="1"/>
              <a:t>nps_score</a:t>
            </a:r>
            <a:r>
              <a:rPr lang="pt-BR" dirty="0"/>
              <a:t> é composto (notas quebradas demonstram isso); </a:t>
            </a:r>
          </a:p>
          <a:p>
            <a:r>
              <a:rPr lang="pt-BR" dirty="0"/>
              <a:t>- Possível problema na marcação de identificação única do pedido e do usuário.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F123220B-6417-85FD-300D-13F94ED519F1}"/>
              </a:ext>
            </a:extLst>
          </p:cNvPr>
          <p:cNvSpPr/>
          <p:nvPr/>
        </p:nvSpPr>
        <p:spPr>
          <a:xfrm>
            <a:off x="409490" y="1816721"/>
            <a:ext cx="1295924" cy="447085"/>
          </a:xfrm>
          <a:prstGeom prst="roundRect">
            <a:avLst>
              <a:gd name="adj" fmla="val 11565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Discovery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FC2F14F1-3B6B-3C89-8B7D-8A33CAD49289}"/>
              </a:ext>
            </a:extLst>
          </p:cNvPr>
          <p:cNvSpPr/>
          <p:nvPr/>
        </p:nvSpPr>
        <p:spPr>
          <a:xfrm>
            <a:off x="409490" y="4457345"/>
            <a:ext cx="1295924" cy="447085"/>
          </a:xfrm>
          <a:prstGeom prst="roundRect">
            <a:avLst>
              <a:gd name="adj" fmla="val 11565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Analysis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5870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84233"/>
            <a:ext cx="12188952" cy="3173767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3367111-2DCE-83FE-1F74-9419555908D5}"/>
              </a:ext>
            </a:extLst>
          </p:cNvPr>
          <p:cNvSpPr/>
          <p:nvPr/>
        </p:nvSpPr>
        <p:spPr>
          <a:xfrm>
            <a:off x="1710054" y="4089404"/>
            <a:ext cx="2130425" cy="1365115"/>
          </a:xfrm>
          <a:prstGeom prst="roundRect">
            <a:avLst>
              <a:gd name="adj" fmla="val 11565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extBox 9"/>
          <p:cNvSpPr txBox="1"/>
          <p:nvPr/>
        </p:nvSpPr>
        <p:spPr>
          <a:xfrm>
            <a:off x="1300686" y="42316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2E86C1"/>
                </a:solidFill>
              </a:rPr>
              <a:t>2.500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0115" y="4774626"/>
            <a:ext cx="2926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0" i="0"/>
            </a:lvl1pPr>
          </a:lstStyle>
          <a:p>
            <a:r>
              <a:rPr lang="pt-BR" dirty="0"/>
              <a:t># Registros na</a:t>
            </a:r>
          </a:p>
          <a:p>
            <a:r>
              <a:rPr lang="pt-BR" dirty="0"/>
              <a:t> Amostra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Case NPS Preditivo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ACCFF"/>
                </a:solidFill>
              </a:rPr>
              <a:t>Análise de Satisfação de Clientes em E-commerce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512714"/>
            <a:ext cx="393192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5212" y="275726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88AACC"/>
                </a:solidFill>
              </a:rPr>
              <a:t>Pós-Tech FIAP  |  1IAST  |  Tech Challenge Fase 1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38043A2-D8A4-ABF0-681B-FD4229596F6C}"/>
              </a:ext>
            </a:extLst>
          </p:cNvPr>
          <p:cNvSpPr/>
          <p:nvPr/>
        </p:nvSpPr>
        <p:spPr>
          <a:xfrm>
            <a:off x="4893365" y="4080114"/>
            <a:ext cx="2130425" cy="1365115"/>
          </a:xfrm>
          <a:prstGeom prst="roundRect">
            <a:avLst>
              <a:gd name="adj" fmla="val 11565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02215DA-9FFE-3B38-C53A-F7F46191D930}"/>
              </a:ext>
            </a:extLst>
          </p:cNvPr>
          <p:cNvSpPr/>
          <p:nvPr/>
        </p:nvSpPr>
        <p:spPr>
          <a:xfrm>
            <a:off x="8046720" y="4056651"/>
            <a:ext cx="2130425" cy="1365115"/>
          </a:xfrm>
          <a:prstGeom prst="roundRect">
            <a:avLst>
              <a:gd name="adj" fmla="val 11565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Box 7"/>
          <p:cNvSpPr txBox="1"/>
          <p:nvPr/>
        </p:nvSpPr>
        <p:spPr>
          <a:xfrm>
            <a:off x="4465582" y="4220777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C0392B"/>
                </a:solidFill>
              </a:rPr>
              <a:t>-80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537" y="4853227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/>
              <a:t>NPS da Empresa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8216" y="4031517"/>
            <a:ext cx="20889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 err="1">
                <a:solidFill>
                  <a:srgbClr val="F39C12"/>
                </a:solidFill>
              </a:rPr>
              <a:t>Atraso</a:t>
            </a:r>
            <a:r>
              <a:rPr sz="2800" b="1" i="0" dirty="0">
                <a:solidFill>
                  <a:srgbClr val="F39C12"/>
                </a:solidFill>
              </a:rPr>
              <a:t> </a:t>
            </a:r>
            <a:r>
              <a:rPr sz="2800" b="1" i="0" dirty="0" err="1">
                <a:solidFill>
                  <a:srgbClr val="F39C12"/>
                </a:solidFill>
              </a:rPr>
              <a:t>na</a:t>
            </a:r>
            <a:r>
              <a:rPr sz="2800" b="1" i="0" dirty="0">
                <a:solidFill>
                  <a:srgbClr val="F39C12"/>
                </a:solidFill>
              </a:rPr>
              <a:t> Entrega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2500" y="4978455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0" i="0"/>
            </a:lvl1pPr>
          </a:lstStyle>
          <a:p>
            <a:r>
              <a:rPr dirty="0"/>
              <a:t>Principal Fator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Problema de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Por que este projeto existe?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BBDD"/>
                </a:solidFill>
              </a:rPr>
              <a:t>Tech Challenge Fase 1 | NPS Preditivo | Pós-Tech FIAP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Situação atual: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800"/>
              </a:spcBef>
            </a:pPr>
            <a:r>
              <a:rPr sz="1500" b="0" i="0" dirty="0">
                <a:solidFill>
                  <a:srgbClr val="444444"/>
                </a:solidFill>
              </a:rPr>
              <a:t>● O NPS é </a:t>
            </a:r>
            <a:r>
              <a:rPr sz="1500" b="0" i="0" dirty="0" err="1">
                <a:solidFill>
                  <a:srgbClr val="444444"/>
                </a:solidFill>
              </a:rPr>
              <a:t>coletado</a:t>
            </a:r>
            <a:r>
              <a:rPr sz="1500" b="0" i="0" dirty="0">
                <a:solidFill>
                  <a:srgbClr val="444444"/>
                </a:solidFill>
              </a:rPr>
              <a:t> </a:t>
            </a:r>
            <a:r>
              <a:rPr sz="1500" b="0" i="0" dirty="0" err="1">
                <a:solidFill>
                  <a:srgbClr val="444444"/>
                </a:solidFill>
              </a:rPr>
              <a:t>apenas</a:t>
            </a:r>
            <a:r>
              <a:rPr sz="1500" b="0" i="0" dirty="0">
                <a:solidFill>
                  <a:srgbClr val="444444"/>
                </a:solidFill>
              </a:rPr>
              <a:t> </a:t>
            </a:r>
            <a:r>
              <a:rPr sz="1500" b="0" i="0" dirty="0" err="1">
                <a:solidFill>
                  <a:srgbClr val="444444"/>
                </a:solidFill>
              </a:rPr>
              <a:t>após</a:t>
            </a:r>
            <a:r>
              <a:rPr sz="1500" b="0" i="0" dirty="0">
                <a:solidFill>
                  <a:srgbClr val="444444"/>
                </a:solidFill>
              </a:rPr>
              <a:t> o </a:t>
            </a:r>
            <a:r>
              <a:rPr sz="1500" b="0" i="0" dirty="0" err="1">
                <a:solidFill>
                  <a:srgbClr val="444444"/>
                </a:solidFill>
              </a:rPr>
              <a:t>encerramento</a:t>
            </a:r>
            <a:r>
              <a:rPr sz="1500" b="0" i="0" dirty="0">
                <a:solidFill>
                  <a:srgbClr val="444444"/>
                </a:solidFill>
              </a:rPr>
              <a:t> da jornada de </a:t>
            </a:r>
            <a:r>
              <a:rPr sz="1500" b="0" i="0" dirty="0" err="1">
                <a:solidFill>
                  <a:srgbClr val="444444"/>
                </a:solidFill>
              </a:rPr>
              <a:t>compra</a:t>
            </a:r>
            <a:endParaRPr sz="1500" b="0" i="0" dirty="0">
              <a:solidFill>
                <a:srgbClr val="444444"/>
              </a:solidFill>
            </a:endParaRPr>
          </a:p>
          <a:p>
            <a:pPr algn="l">
              <a:spcBef>
                <a:spcPts val="800"/>
              </a:spcBef>
            </a:pPr>
            <a:r>
              <a:rPr sz="1500" b="0" i="0" dirty="0">
                <a:solidFill>
                  <a:srgbClr val="444444"/>
                </a:solidFill>
              </a:rPr>
              <a:t>● A </a:t>
            </a:r>
            <a:r>
              <a:rPr sz="1500" b="0" i="0" dirty="0" err="1">
                <a:solidFill>
                  <a:srgbClr val="444444"/>
                </a:solidFill>
              </a:rPr>
              <a:t>empresa</a:t>
            </a:r>
            <a:r>
              <a:rPr sz="1500" b="0" i="0" dirty="0">
                <a:solidFill>
                  <a:srgbClr val="444444"/>
                </a:solidFill>
              </a:rPr>
              <a:t> não </a:t>
            </a:r>
            <a:r>
              <a:rPr sz="1500" b="0" i="0" dirty="0" err="1">
                <a:solidFill>
                  <a:srgbClr val="444444"/>
                </a:solidFill>
              </a:rPr>
              <a:t>consegue</a:t>
            </a:r>
            <a:r>
              <a:rPr sz="1500" b="0" i="0" dirty="0">
                <a:solidFill>
                  <a:srgbClr val="444444"/>
                </a:solidFill>
              </a:rPr>
              <a:t> </a:t>
            </a:r>
            <a:r>
              <a:rPr sz="1500" b="0" i="0" dirty="0" err="1">
                <a:solidFill>
                  <a:srgbClr val="444444"/>
                </a:solidFill>
              </a:rPr>
              <a:t>antecipar</a:t>
            </a:r>
            <a:r>
              <a:rPr sz="1500" b="0" i="0" dirty="0">
                <a:solidFill>
                  <a:srgbClr val="444444"/>
                </a:solidFill>
              </a:rPr>
              <a:t> </a:t>
            </a:r>
            <a:r>
              <a:rPr sz="1500" b="0" i="0" dirty="0" err="1">
                <a:solidFill>
                  <a:srgbClr val="444444"/>
                </a:solidFill>
              </a:rPr>
              <a:t>problemas</a:t>
            </a:r>
            <a:r>
              <a:rPr sz="1500" b="0" i="0" dirty="0">
                <a:solidFill>
                  <a:srgbClr val="444444"/>
                </a:solidFill>
              </a:rPr>
              <a:t> </a:t>
            </a:r>
            <a:r>
              <a:rPr sz="1500" b="0" i="0" dirty="0" err="1">
                <a:solidFill>
                  <a:srgbClr val="444444"/>
                </a:solidFill>
              </a:rPr>
              <a:t>nem</a:t>
            </a:r>
            <a:r>
              <a:rPr sz="1500" b="0" i="0" dirty="0">
                <a:solidFill>
                  <a:srgbClr val="444444"/>
                </a:solidFill>
              </a:rPr>
              <a:t> </a:t>
            </a:r>
            <a:r>
              <a:rPr sz="1500" b="0" i="0" dirty="0" err="1">
                <a:solidFill>
                  <a:srgbClr val="444444"/>
                </a:solidFill>
              </a:rPr>
              <a:t>agir</a:t>
            </a:r>
            <a:r>
              <a:rPr sz="1500" b="0" i="0" dirty="0">
                <a:solidFill>
                  <a:srgbClr val="444444"/>
                </a:solidFill>
              </a:rPr>
              <a:t> </a:t>
            </a:r>
            <a:r>
              <a:rPr sz="1500" b="0" i="0" dirty="0" err="1">
                <a:solidFill>
                  <a:srgbClr val="444444"/>
                </a:solidFill>
              </a:rPr>
              <a:t>preventivamente</a:t>
            </a:r>
            <a:endParaRPr sz="1500" b="0" i="0" dirty="0">
              <a:solidFill>
                <a:srgbClr val="444444"/>
              </a:solidFill>
            </a:endParaRPr>
          </a:p>
          <a:p>
            <a:pPr algn="l">
              <a:spcBef>
                <a:spcPts val="800"/>
              </a:spcBef>
            </a:pPr>
            <a:r>
              <a:rPr sz="1500" b="0" i="0" dirty="0">
                <a:solidFill>
                  <a:srgbClr val="444444"/>
                </a:solidFill>
              </a:rPr>
              <a:t>● </a:t>
            </a:r>
            <a:r>
              <a:rPr sz="1500" b="0" i="0" dirty="0" err="1">
                <a:solidFill>
                  <a:srgbClr val="444444"/>
                </a:solidFill>
              </a:rPr>
              <a:t>Clientes</a:t>
            </a:r>
            <a:r>
              <a:rPr sz="1500" b="0" i="0" dirty="0">
                <a:solidFill>
                  <a:srgbClr val="444444"/>
                </a:solidFill>
              </a:rPr>
              <a:t> com </a:t>
            </a:r>
            <a:r>
              <a:rPr sz="1500" b="0" i="0" dirty="0" err="1">
                <a:solidFill>
                  <a:srgbClr val="444444"/>
                </a:solidFill>
              </a:rPr>
              <a:t>experiências</a:t>
            </a:r>
            <a:r>
              <a:rPr sz="1500" b="0" i="0" dirty="0">
                <a:solidFill>
                  <a:srgbClr val="444444"/>
                </a:solidFill>
              </a:rPr>
              <a:t> </a:t>
            </a:r>
            <a:r>
              <a:rPr sz="1500" b="0" i="0" dirty="0" err="1">
                <a:solidFill>
                  <a:srgbClr val="444444"/>
                </a:solidFill>
              </a:rPr>
              <a:t>semelhantes</a:t>
            </a:r>
            <a:r>
              <a:rPr sz="1500" b="0" i="0" dirty="0">
                <a:solidFill>
                  <a:srgbClr val="444444"/>
                </a:solidFill>
              </a:rPr>
              <a:t> </a:t>
            </a:r>
            <a:r>
              <a:rPr sz="1500" b="0" i="0" dirty="0" err="1">
                <a:solidFill>
                  <a:srgbClr val="444444"/>
                </a:solidFill>
              </a:rPr>
              <a:t>resultam</a:t>
            </a:r>
            <a:r>
              <a:rPr sz="1500" b="0" i="0" dirty="0">
                <a:solidFill>
                  <a:srgbClr val="444444"/>
                </a:solidFill>
              </a:rPr>
              <a:t> </a:t>
            </a:r>
            <a:r>
              <a:rPr sz="1500" b="0" i="0" dirty="0" err="1">
                <a:solidFill>
                  <a:srgbClr val="444444"/>
                </a:solidFill>
              </a:rPr>
              <a:t>em</a:t>
            </a:r>
            <a:r>
              <a:rPr sz="1500" b="0" i="0" dirty="0">
                <a:solidFill>
                  <a:srgbClr val="444444"/>
                </a:solidFill>
              </a:rPr>
              <a:t> NPS </a:t>
            </a:r>
            <a:r>
              <a:rPr sz="1500" b="0" i="0" dirty="0" err="1">
                <a:solidFill>
                  <a:srgbClr val="444444"/>
                </a:solidFill>
              </a:rPr>
              <a:t>muito</a:t>
            </a:r>
            <a:r>
              <a:rPr sz="1500" b="0" i="0" dirty="0">
                <a:solidFill>
                  <a:srgbClr val="444444"/>
                </a:solidFill>
              </a:rPr>
              <a:t> </a:t>
            </a:r>
            <a:r>
              <a:rPr sz="1500" b="0" i="0" dirty="0" err="1">
                <a:solidFill>
                  <a:srgbClr val="444444"/>
                </a:solidFill>
              </a:rPr>
              <a:t>diferentes</a:t>
            </a:r>
            <a:endParaRPr sz="1500" b="0" i="0" dirty="0">
              <a:solidFill>
                <a:srgbClr val="444444"/>
              </a:solidFill>
            </a:endParaRPr>
          </a:p>
          <a:p>
            <a:pPr algn="l">
              <a:spcBef>
                <a:spcPts val="800"/>
              </a:spcBef>
            </a:pPr>
            <a:r>
              <a:rPr sz="1500" b="0" i="0" dirty="0">
                <a:solidFill>
                  <a:srgbClr val="444444"/>
                </a:solidFill>
              </a:rPr>
              <a:t>● Alto volume de </a:t>
            </a:r>
            <a:r>
              <a:rPr sz="1500" b="0" i="0" dirty="0" err="1">
                <a:solidFill>
                  <a:srgbClr val="444444"/>
                </a:solidFill>
              </a:rPr>
              <a:t>detratores</a:t>
            </a:r>
            <a:r>
              <a:rPr sz="1500" b="0" i="0" dirty="0">
                <a:solidFill>
                  <a:srgbClr val="444444"/>
                </a:solidFill>
              </a:rPr>
              <a:t> </a:t>
            </a:r>
            <a:r>
              <a:rPr sz="1500" b="0" i="0" dirty="0" err="1">
                <a:solidFill>
                  <a:srgbClr val="444444"/>
                </a:solidFill>
              </a:rPr>
              <a:t>gera</a:t>
            </a:r>
            <a:r>
              <a:rPr sz="1500" b="0" i="0" dirty="0">
                <a:solidFill>
                  <a:srgbClr val="444444"/>
                </a:solidFill>
              </a:rPr>
              <a:t> </a:t>
            </a:r>
            <a:r>
              <a:rPr sz="1500" b="0" i="0" dirty="0" err="1">
                <a:solidFill>
                  <a:srgbClr val="444444"/>
                </a:solidFill>
              </a:rPr>
              <a:t>risco</a:t>
            </a:r>
            <a:r>
              <a:rPr sz="1500" b="0" i="0" dirty="0">
                <a:solidFill>
                  <a:srgbClr val="444444"/>
                </a:solidFill>
              </a:rPr>
              <a:t> de churn, </a:t>
            </a:r>
            <a:r>
              <a:rPr sz="1500" b="0" i="0" dirty="0" err="1">
                <a:solidFill>
                  <a:srgbClr val="444444"/>
                </a:solidFill>
              </a:rPr>
              <a:t>reputação</a:t>
            </a:r>
            <a:r>
              <a:rPr sz="1500" b="0" i="0" dirty="0">
                <a:solidFill>
                  <a:srgbClr val="444444"/>
                </a:solidFill>
              </a:rPr>
              <a:t> </a:t>
            </a:r>
            <a:r>
              <a:rPr sz="1500" b="0" i="0" dirty="0" err="1">
                <a:solidFill>
                  <a:srgbClr val="444444"/>
                </a:solidFill>
              </a:rPr>
              <a:t>negativa</a:t>
            </a:r>
            <a:r>
              <a:rPr sz="1500" b="0" i="0" dirty="0">
                <a:solidFill>
                  <a:srgbClr val="444444"/>
                </a:solidFill>
              </a:rPr>
              <a:t> e </a:t>
            </a:r>
            <a:r>
              <a:rPr sz="1500" b="0" i="0" dirty="0" err="1">
                <a:solidFill>
                  <a:srgbClr val="444444"/>
                </a:solidFill>
              </a:rPr>
              <a:t>queda</a:t>
            </a:r>
            <a:r>
              <a:rPr sz="1500" b="0" i="0" dirty="0">
                <a:solidFill>
                  <a:srgbClr val="444444"/>
                </a:solidFill>
              </a:rPr>
              <a:t> no CAC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55778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577840" cy="4663440"/>
          </a:xfrm>
          <a:prstGeom prst="rect">
            <a:avLst/>
          </a:prstGeom>
          <a:noFill/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3A"/>
                </a:solidFill>
              </a:rPr>
              <a:t>A pergunta central: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F4E79"/>
                </a:solidFill>
              </a:rPr>
              <a:t>"Quais fatores operacionais realmente influenciam a satisfação do cliente e como a empresa pode agir de forma proativa antes da pesquisa de NPS?"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023360"/>
            <a:ext cx="5029200" cy="16459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💡  Solução proposta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480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Transformar dados operacionais em um modelo preditivo que antecipe o NPS antes da coleta, permitindo ação preventiva.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Diagnóstico: O NPS da Empresa é Crítico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Como a empresa está posicionada hoje?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BBDD"/>
                </a:solidFill>
              </a:rPr>
              <a:t>Tech Challenge Fase 1 | NPS Preditivo | Pós-Tech FIAP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5603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560320" cy="1554480"/>
          </a:xfrm>
          <a:prstGeom prst="rect">
            <a:avLst/>
          </a:prstGeom>
          <a:noFill/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0392B"/>
                </a:solidFill>
              </a:rPr>
              <a:t>-80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NPS da Empresa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17320"/>
            <a:ext cx="25603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417320"/>
            <a:ext cx="2560320" cy="1554480"/>
          </a:xfrm>
          <a:prstGeom prst="rect">
            <a:avLst/>
          </a:prstGeom>
          <a:noFill/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15087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0392B"/>
                </a:solidFill>
              </a:rPr>
              <a:t>84,4%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Detratores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417320"/>
            <a:ext cx="25603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0" y="1417320"/>
            <a:ext cx="2560320" cy="1554480"/>
          </a:xfrm>
          <a:prstGeom prst="rect">
            <a:avLst/>
          </a:prstGeom>
          <a:noFill/>
          <a:ln w="317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15087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39C12"/>
                </a:solidFill>
              </a:rPr>
              <a:t>11,2%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286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Neutros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417320"/>
            <a:ext cx="25603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0" y="1417320"/>
            <a:ext cx="2560320" cy="1554480"/>
          </a:xfrm>
          <a:prstGeom prst="rect">
            <a:avLst/>
          </a:prstGeom>
          <a:noFill/>
          <a:ln w="317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0" y="15087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E8B4C"/>
                </a:solidFill>
              </a:rPr>
              <a:t>4,4%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286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Promotores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246120"/>
            <a:ext cx="1143000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383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53A"/>
                </a:solidFill>
              </a:rPr>
              <a:t>O que esses números significam para o negócio?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840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</a:rPr>
              <a:t>NPS -80 é crítico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5196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Benchmarks do e-commerce brasileiro indicam NPS saudável entre +30 e +65. Um NPS de -80 significa que há mais de 16x mais detratores do que promotores.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840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</a:rPr>
              <a:t>84% de detratores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25196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Clientes insatisfeitos têm alta probabilidade de churn, geram reviews negativos e aumentam o custo de aquisição de novos clientes (CAC).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840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</a:rPr>
              <a:t>Apenas 4% promotores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25196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 crescimento orgânico via indicações está praticamente nulo. A empresa perde o principal canal de aquisição de baixo custo.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Fator #1: Atraso na Entrega é o Principal Vilão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O ponto de ruptura está nos 3+ dias de atraso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BBDD"/>
                </a:solidFill>
              </a:rPr>
              <a:t>Tech Challenge Fase 1 | NPS Preditivo | Pós-Tech FIAP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3A"/>
                </a:solidFill>
              </a:rPr>
              <a:t>NPS Médio por Faixa de Atraso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08388"/>
            <a:ext cx="1554480" cy="2895131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06091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8B4C"/>
                </a:solidFill>
              </a:rPr>
              <a:t>5.88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659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n=423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49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Sem atraso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2871216"/>
            <a:ext cx="1554480" cy="243230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31720" y="25237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39C12"/>
                </a:solidFill>
              </a:rPr>
              <a:t>4.94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24942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n=826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349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1–2 dias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496524"/>
            <a:ext cx="1554480" cy="180699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0" y="31490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67E22"/>
                </a:solidFill>
              </a:rPr>
              <a:t>3.67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87473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n=858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5349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3–4 dias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4486187"/>
            <a:ext cx="1554480" cy="8173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60" y="4138715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0392B"/>
                </a:solidFill>
              </a:rPr>
              <a:t>1.66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864395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n=393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5349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5+ dias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41732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0" y="1417320"/>
            <a:ext cx="5303520" cy="5120640"/>
          </a:xfrm>
          <a:prstGeom prst="rect">
            <a:avLst/>
          </a:prstGeom>
          <a:noFill/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3A"/>
                </a:solidFill>
              </a:rPr>
              <a:t>O que os dados mostram: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0116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444444"/>
                </a:solidFill>
              </a:rPr>
              <a:t>✅  Sem atraso: NPS médio 5,88 — melhor grupo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444444"/>
                </a:solidFill>
              </a:rPr>
              <a:t>⚠️  1 a 2 dias: queda de 16% no NPS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444444"/>
                </a:solidFill>
              </a:rPr>
              <a:t>🔴  3 a 4 dias: queda de 38% — ponto de ruptura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444444"/>
                </a:solidFill>
              </a:rPr>
              <a:t>🚨  5+ dias: NPS próximo de zero — experiência crítica</a:t>
            </a:r>
          </a:p>
          <a:p>
            <a:pPr algn="l">
              <a:spcBef>
                <a:spcPts val="700"/>
              </a:spcBef>
            </a:pPr>
            <a:endParaRPr sz="1300" b="0" i="0">
              <a:solidFill>
                <a:srgbClr val="444444"/>
              </a:solidFill>
            </a:endParaRPr>
          </a:p>
          <a:p>
            <a:pPr algn="l">
              <a:spcBef>
                <a:spcPts val="700"/>
              </a:spcBef>
            </a:pPr>
            <a:r>
              <a:rPr sz="1300" b="1" i="0">
                <a:solidFill>
                  <a:srgbClr val="1F4E79"/>
                </a:solidFill>
              </a:rPr>
              <a:t>Recomendação: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444444"/>
                </a:solidFill>
              </a:rPr>
              <a:t>Priorizar SLA de entrega. Monitorar em tempo real os pedidos com risco de atraso acima de 2 dias e acionar o cliente proativamente antes do problema se tornar uma reclamação.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Fatores #2 e #3: SAC e Reclamações Corroem a Satisfação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Cada contato com o atendimento é um sinal de que algo deu errado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BBDD"/>
                </a:solidFill>
              </a:rPr>
              <a:t>Tech Challenge Fase 1 | NPS Preditivo | Pós-Tech FIAP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94960" cy="5074920"/>
          </a:xfrm>
          <a:prstGeom prst="rect">
            <a:avLst/>
          </a:prstGeom>
          <a:noFill/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508760"/>
            <a:ext cx="5175504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Contatos com Atendimento (SAC)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NPS Médio por Nº de Contatos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028492"/>
            <a:ext cx="658368" cy="2183587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75417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</a:rPr>
              <a:t>5.97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25780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53896" y="3445459"/>
            <a:ext cx="658368" cy="17666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53896" y="317113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</a:rPr>
              <a:t>4.83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525780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3432" y="3836822"/>
            <a:ext cx="658368" cy="1375257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13432" y="356250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</a:rPr>
              <a:t>3.76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3432" y="525780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72968" y="4147718"/>
            <a:ext cx="658368" cy="106436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72968" y="387339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2.91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2968" y="525780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2504" y="4359859"/>
            <a:ext cx="658368" cy="8522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32504" y="408553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2.33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32504" y="525780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8064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Nº de contatos com SAC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080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→  0 contatos = maior NPS  |  cada contato adicional reduz ~1,1 ponto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417320"/>
            <a:ext cx="54864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1417320"/>
            <a:ext cx="5486400" cy="5074920"/>
          </a:xfrm>
          <a:prstGeom prst="rect">
            <a:avLst/>
          </a:prstGeom>
          <a:noFill/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1508760"/>
            <a:ext cx="5266944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Número de Reclamações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017032"/>
            <a:ext cx="914400" cy="2195047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27427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8B4C"/>
                </a:solidFill>
              </a:rPr>
              <a:t>6.43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2578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Sem
rec.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45552" y="3406200"/>
            <a:ext cx="914400" cy="1805879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45552" y="3131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</a:rPr>
              <a:t>5.29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52578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1–2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07424" y="3802197"/>
            <a:ext cx="914400" cy="140988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07424" y="3527877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</a:rPr>
              <a:t>4.13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7424" y="52578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3–4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69296" y="4263054"/>
            <a:ext cx="914400" cy="94902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69296" y="398873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</a:rPr>
              <a:t>2.78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9296" y="52578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5+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6080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→  Clientes sem reclamações têm NPS 2,3x maior do que os com 5+ reclamações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Quem é o Promotor e Quem é o Detrator?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Comparação direta do perfil médio entre as categorias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BBDD"/>
                </a:solidFill>
              </a:rPr>
              <a:t>Tech Challenge Fase 1 | NPS Preditivo | Pós-Tech FIAP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3A"/>
                </a:solidFill>
              </a:rPr>
              <a:t>Perfil Médio por Categoria NPS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3794760" cy="438912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938527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Variável Operacional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74519"/>
            <a:ext cx="2148840" cy="43891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93852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Promotor  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874519"/>
            <a:ext cx="2148840" cy="43891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193852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Neutro  ⚠️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874519"/>
            <a:ext cx="2148840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15400" y="193852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Detrator  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13431"/>
            <a:ext cx="379476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2386583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Atraso na entrega (dias)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313431"/>
            <a:ext cx="214884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238658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B4C"/>
                </a:solidFill>
              </a:rPr>
              <a:t>0,72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313431"/>
            <a:ext cx="214884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238658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1,05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313431"/>
            <a:ext cx="214884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15400" y="238658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</a:rPr>
              <a:t>2,41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752343"/>
            <a:ext cx="37947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2825495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Contatos com SAC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752343"/>
            <a:ext cx="2148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3400" y="2825495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B4C"/>
                </a:solidFill>
              </a:rPr>
              <a:t>0,67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752343"/>
            <a:ext cx="2148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2825495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1,01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2752343"/>
            <a:ext cx="2148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15400" y="2825495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</a:rPr>
              <a:t>1,63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191255"/>
            <a:ext cx="379476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3264407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Reclamações registradas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3191255"/>
            <a:ext cx="214884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43400" y="326440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B4C"/>
                </a:solidFill>
              </a:rPr>
              <a:t>2,27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191255"/>
            <a:ext cx="214884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29400" y="326440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2,69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9680" y="3191255"/>
            <a:ext cx="214884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15400" y="326440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</a:rPr>
              <a:t>4,44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630167"/>
            <a:ext cx="37947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3703319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Tempo de resolução (dias)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3630167"/>
            <a:ext cx="2148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43400" y="370331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B4C"/>
                </a:solidFill>
              </a:rPr>
              <a:t>3,70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630167"/>
            <a:ext cx="2148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29400" y="370331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4,62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69680" y="3630167"/>
            <a:ext cx="2148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915400" y="370331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</a:rPr>
              <a:t>5,69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069079"/>
            <a:ext cx="379476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1480" y="4142231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Tempo de entrega (dias)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4069079"/>
            <a:ext cx="214884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343400" y="4142231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B4C"/>
                </a:solidFill>
              </a:rPr>
              <a:t>7,94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4069079"/>
            <a:ext cx="214884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29400" y="4142231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8,26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69680" y="4069079"/>
            <a:ext cx="2148840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915400" y="4142231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7,99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507991"/>
            <a:ext cx="37947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11480" y="4581143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Tentativas de entrega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97680" y="4507991"/>
            <a:ext cx="2148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343400" y="458114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2,15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0" y="4507991"/>
            <a:ext cx="2148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629400" y="458114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2,01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69680" y="4507991"/>
            <a:ext cx="2148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915400" y="458114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2,00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5349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3A"/>
                </a:solidFill>
              </a:rPr>
              <a:t>📌  Insight principal: Promotores se diferenciam pelos fatores de ATRASO e ATENDIMENTO — não pelo valor do pedido, região ou perfil demográfico.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Diferenças Regionais: O Problema é Sistêmico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Nenhuma região se destaca — o NPS crítico afeta todas igualmente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BBDD"/>
                </a:solidFill>
              </a:rPr>
              <a:t>Tech Challenge Fase 1 | NPS Preditivo | Pós-Tech FIAP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3A"/>
                </a:solidFill>
              </a:rPr>
              <a:t>NPS Calculado por Região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(fórmula: % Promotores − % Detratores)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840480"/>
            <a:ext cx="1645920" cy="185784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4930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</a:rPr>
              <a:t>-78.5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5318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Centro-Oeste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3840480"/>
            <a:ext cx="1645920" cy="189807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0" y="34930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</a:rPr>
              <a:t>-80.2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5793423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Nordeste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1645920" cy="190281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34930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</a:rPr>
              <a:t>-80.4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7981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Norte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840480"/>
            <a:ext cx="1645920" cy="191227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34930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</a:rPr>
              <a:t>-80.8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807623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Sudeste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840480"/>
            <a:ext cx="1645920" cy="188861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34930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</a:rPr>
              <a:t>-79.8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7839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Sul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987552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429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</a:rPr>
              <a:t>NPS Empresa: −80,0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417320"/>
            <a:ext cx="54864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1417320"/>
            <a:ext cx="5486400" cy="5120640"/>
          </a:xfrm>
          <a:prstGeom prst="rect">
            <a:avLst/>
          </a:prstGeom>
          <a:noFill/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3A"/>
                </a:solidFill>
              </a:rPr>
              <a:t>O que isso significa?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0116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444444"/>
                </a:solidFill>
              </a:rPr>
              <a:t>● A variação entre regiões é inferior a 2,5 pontos — dentro da margem de erro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444444"/>
                </a:solidFill>
              </a:rPr>
              <a:t>● Não há gargalo logístico regional — o problema vem de dentro da operação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444444"/>
                </a:solidFill>
              </a:rPr>
              <a:t>● Soluções pontuais por região não resolverão o problema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444444"/>
                </a:solidFill>
              </a:rPr>
              <a:t>● A empresa precisa de uma solução sistêmica, que afete todos os clientes</a:t>
            </a:r>
          </a:p>
          <a:p>
            <a:pPr algn="l">
              <a:spcBef>
                <a:spcPts val="800"/>
              </a:spcBef>
            </a:pPr>
            <a:endParaRPr sz="1300" b="0" i="0">
              <a:solidFill>
                <a:srgbClr val="444444"/>
              </a:solidFill>
            </a:endParaRPr>
          </a:p>
          <a:p>
            <a:pPr algn="l">
              <a:spcBef>
                <a:spcPts val="800"/>
              </a:spcBef>
            </a:pPr>
            <a:r>
              <a:rPr sz="1300" b="1" i="0">
                <a:solidFill>
                  <a:srgbClr val="1F4E79"/>
                </a:solidFill>
              </a:rPr>
              <a:t>→  Não adianta focar só no Nordeste ou Norte.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444444"/>
                </a:solidFill>
              </a:rPr>
              <a:t>    O problema é a operação como um todo.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Modelo Preditivo: Agir Antes do NPS ser Coletado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Transformando uma métrica reativa em uma ferramenta proativa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BBDD"/>
                </a:solidFill>
              </a:rPr>
              <a:t>Tech Challenge Fase 1 | NPS Preditivo | Pós-Tech FIAP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3A"/>
                </a:solidFill>
              </a:rPr>
              <a:t>Como funciona na prática?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146304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260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Pedido
Entregue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920240"/>
            <a:ext cx="146304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0" y="19659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9260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Dados
Operacionais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920240"/>
            <a:ext cx="146304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0" y="19659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9260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Modelo
Calcula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920240"/>
            <a:ext cx="1371600" cy="9144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9659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26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VERDE
Promotor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920240"/>
            <a:ext cx="137160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19659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26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AMARELO
Risco Médio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1920240"/>
            <a:ext cx="13716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0" y="19659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926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VERMELHO
Detrator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200400"/>
            <a:ext cx="1143000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3832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F4E79"/>
                </a:solidFill>
              </a:rPr>
              <a:t>0,906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0233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ROC-AUC
(Random Forest)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33832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F4E79"/>
                </a:solidFill>
              </a:rPr>
              <a:t>92,2%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0233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Acurácia
Geral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33832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F4E79"/>
                </a:solidFill>
              </a:rPr>
              <a:t>55%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40233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Detratores
Detectados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3832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F4E79"/>
                </a:solidFill>
              </a:rPr>
              <a:t>5-fold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0233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Validação
Cruzada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33832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F4E79"/>
                </a:solidFill>
              </a:rPr>
              <a:t>200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40233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Árvores no
Modelo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754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53A"/>
                </a:solidFill>
              </a:rPr>
              <a:t>Variáveis mais importantes para o modelo: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5120640"/>
            <a:ext cx="6309360" cy="274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51206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1º  Atraso na Entrega (delivery_delay_days)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97312" y="512064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23%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5504688"/>
            <a:ext cx="4937759" cy="274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550468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2º  Contatos com SAC (customer_service_contacts)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25711" y="55046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18%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5888736"/>
            <a:ext cx="4114800" cy="274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58887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3º  Reclamações (complaints_count)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02752" y="58887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15%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6272784"/>
            <a:ext cx="3291839" cy="274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5760" y="627278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4º  Tempo de Resolução (resolution_time_days)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79791" y="627278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12%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Recomendações: O Que a Empresa Deve Priorizar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Ações concretas para melhorar o NPS e a experiência do 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BBDD"/>
                </a:solidFill>
              </a:rPr>
              <a:t>Tech Challenge Fase 1 | NPS Preditivo | Pós-Tech FIAP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749039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🚚  Logística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38528"/>
            <a:ext cx="3749039" cy="2743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</a:rPr>
              <a:t>Prioridade ALTA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31136"/>
            <a:ext cx="3749039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3749039" cy="5029200"/>
          </a:xfrm>
          <a:prstGeom prst="rect">
            <a:avLst/>
          </a:prstGeom>
          <a:noFill/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2304288"/>
            <a:ext cx="3520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444444"/>
                </a:solidFill>
              </a:rPr>
              <a:t>▶  Monitorar pedidos em risco de atraso em tempo real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444444"/>
                </a:solidFill>
              </a:rPr>
              <a:t>▶  Acionar o cliente proativamente antes de 3 dias de atraso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444444"/>
                </a:solidFill>
              </a:rPr>
              <a:t>▶  Revisar SLA com transportadoras nas rotas de maior atraso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749039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4630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📞  Atendimento (SAC)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938528"/>
            <a:ext cx="3749039" cy="2743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19659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</a:rPr>
              <a:t>Prioridade ALTA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231136"/>
            <a:ext cx="3749039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97680" y="1417320"/>
            <a:ext cx="3749039" cy="5029200"/>
          </a:xfrm>
          <a:prstGeom prst="rect">
            <a:avLst/>
          </a:prstGeom>
          <a:noFill/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07408" y="2304288"/>
            <a:ext cx="3520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444444"/>
                </a:solidFill>
              </a:rPr>
              <a:t>▶  Investir em resolução no primeiro contato (First Call Resolution)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444444"/>
                </a:solidFill>
              </a:rPr>
              <a:t>▶  Reduzir o tempo médio de resolução de problemas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444444"/>
                </a:solidFill>
              </a:rPr>
              <a:t>▶  Criar alertas automáticos para clientes que já acionaram o SAC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417320"/>
            <a:ext cx="3749039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14630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 CRM / Estratégia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938528"/>
            <a:ext cx="3749039" cy="2743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19659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</a:rPr>
              <a:t>Prioridade MÉDIA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231136"/>
            <a:ext cx="3749039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1417320"/>
            <a:ext cx="3749039" cy="5029200"/>
          </a:xfrm>
          <a:prstGeom prst="rect">
            <a:avLst/>
          </a:prstGeom>
          <a:noFill/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39328" y="2304288"/>
            <a:ext cx="3520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444444"/>
                </a:solidFill>
              </a:rPr>
              <a:t>▶  Usar o modelo preditivo para identificar clientes em risco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444444"/>
                </a:solidFill>
              </a:rPr>
              <a:t>▶  Acionar equipe de CX antes da coleta do NPS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444444"/>
                </a:solidFill>
              </a:rPr>
              <a:t>▶  Oferecer contato personalizado e cupom de desconto preventivo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172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53A"/>
                </a:solidFill>
              </a:rPr>
              <a:t>💡  Impacto esperado: converter 10% dos detratores em neutros poderia elevar o NPS de −80 para −72, reduzindo o risco de churn e melhorando a reputação da empresa no mercado.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Limitações e Riscos: O Que Deve ser Considerado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Transparência sobre os cuidados ao usar esses resultados para decisão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BBDD"/>
                </a:solidFill>
              </a:rPr>
              <a:t>Tech Challenge Fase 1 | NPS Preditivo | Pós-Tech FIAP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669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669280" cy="1554480"/>
          </a:xfrm>
          <a:prstGeom prst="rect">
            <a:avLst/>
          </a:prstGeom>
          <a:noFill/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5544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53A"/>
                </a:solidFill>
              </a:rPr>
              <a:t>📦  Tamanho da Amostra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202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2.500 registros é uma base razoável para análise, mas limitada para um modelo robusto em produção. Recomenda-se ampliar com dados históricos de 12+ meses antes de implementar em larga escala.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669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669280" cy="1554480"/>
          </a:xfrm>
          <a:prstGeom prst="rect">
            <a:avLst/>
          </a:prstGeom>
          <a:noFill/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5544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53A"/>
                </a:solidFill>
              </a:rPr>
              <a:t>🔄  Deriva do Modelo (Model Drift)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202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 comportamento dos clientes muda ao longo do tempo. O modelo deve ser retreinado periodicamente (sugerido: trimestral) para manter sua eficácia e não gerar alertas equivocados.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54680"/>
            <a:ext cx="5669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154680"/>
            <a:ext cx="5669280" cy="1554480"/>
          </a:xfrm>
          <a:prstGeom prst="rect">
            <a:avLst/>
          </a:prstGeom>
          <a:noFill/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32461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53A"/>
                </a:solidFill>
              </a:rPr>
              <a:t>⚠️  Dados Não Capturados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61188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Qualidade do produto, sazonalidade (Black Friday, Natal), promoções especiais e eventos externos não estão no dataset e podem influenciar significativamente o NPS.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154680"/>
            <a:ext cx="5669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3154680"/>
            <a:ext cx="5669280" cy="1554480"/>
          </a:xfrm>
          <a:prstGeom prst="rect">
            <a:avLst/>
          </a:prstGeom>
          <a:noFill/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2461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53A"/>
                </a:solidFill>
              </a:rPr>
              <a:t>🎯  Viés de Resposta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61188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Clientes muito satisfeitos ou muito insatisfeitos têm maior propensão a responder ao NPS. O dataset pode sobre-representar extremos, distorcendo os padrões aprendidos pelo modelo.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46320"/>
            <a:ext cx="5669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846320"/>
            <a:ext cx="5669280" cy="1554480"/>
          </a:xfrm>
          <a:prstGeom prst="rect">
            <a:avLst/>
          </a:prstGeom>
          <a:noFill/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" y="4937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53A"/>
                </a:solidFill>
              </a:rPr>
              <a:t>🔍  Precisão do Modelo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530352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 modelo detecta 55% dos detratores (recall), com 29% de precisão na classe Promotor. Recomenda-se usá-lo como ferramenta de ranking/priorização, não como decisão binária definitiva.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846320"/>
            <a:ext cx="5669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4846320"/>
            <a:ext cx="5669280" cy="1554480"/>
          </a:xfrm>
          <a:prstGeom prst="rect">
            <a:avLst/>
          </a:prstGeom>
          <a:noFill/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9088" y="4937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53A"/>
                </a:solidFill>
              </a:rPr>
              <a:t>⚖️  LGPD e Privacidade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530352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 uso dos dados para predição requer consentimento adequado conforme a LGPD (Lei 13.709/2018). A empresa deve garantir conformidade antes de qualquer implementação em produção.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Conclusão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De análise reativa a gestão proativa da experiência do 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BBDD"/>
                </a:solidFill>
              </a:rPr>
              <a:t>Tech Challenge Fase 1 | NPS Preditivo | Pós-Tech FIAP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53A"/>
                </a:solidFill>
              </a:rPr>
              <a:t>O que aprendemos: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4864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O NPS −80 é crítico e exige ação imediata — não é uma situação marginal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95728"/>
            <a:ext cx="54864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39572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Atraso na entrega + SAC são os fatores que mais diferenciam promotores de detratores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71216"/>
            <a:ext cx="54864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87121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O problema é sistêmico: todas as regiões estão no mesmo nível de insatisfação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46704"/>
            <a:ext cx="54864" cy="3657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34670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O modelo preditivo consegue identificar clientes em risco antes da pesquisa de NPS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22192"/>
            <a:ext cx="54864" cy="3657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82219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Existem ações concretas e viáveis que podem ser implementadas agora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34840"/>
            <a:ext cx="1143000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53A"/>
                </a:solidFill>
              </a:rPr>
              <a:t>Próximos Passos Recomendados: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029200"/>
            <a:ext cx="3474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50566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Curto Prazo (0-3 meses)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94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444444"/>
                </a:solidFill>
              </a:rPr>
              <a:t>• Implementar monitoramento de SLA de entrega em tempo real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444444"/>
                </a:solidFill>
              </a:rPr>
              <a:t>• Criar dashboard de risco de NPS por pedido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5029200"/>
            <a:ext cx="347472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97680" y="50566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Médio Prazo (3-6 meses)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394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444444"/>
                </a:solidFill>
              </a:rPr>
              <a:t>• Implantar modelo preditivo em produção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444444"/>
                </a:solidFill>
              </a:rPr>
              <a:t>• Treinar equipe de CX para ação preventiva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5029200"/>
            <a:ext cx="3474720" cy="3200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50566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Longo Prazo (6-12 meses)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394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444444"/>
                </a:solidFill>
              </a:rPr>
              <a:t>• Ampliar base de dados e retreinar o modelo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444444"/>
                </a:solidFill>
              </a:rPr>
              <a:t>• Criar KPI de NPS preditivo como métrica operacional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1771</Words>
  <Application>Microsoft Office PowerPoint</Application>
  <PresentationFormat>Personalizar</PresentationFormat>
  <Paragraphs>267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Felipe Barbato de Biaggio</cp:lastModifiedBy>
  <cp:revision>2</cp:revision>
  <dcterms:created xsi:type="dcterms:W3CDTF">2013-01-27T09:14:16Z</dcterms:created>
  <dcterms:modified xsi:type="dcterms:W3CDTF">2026-06-16T23:53:28Z</dcterms:modified>
  <cp:category/>
</cp:coreProperties>
</file>